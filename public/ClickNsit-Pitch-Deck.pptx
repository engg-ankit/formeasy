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2743200"/>
            <a:ext cx="5486400" cy="54864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0" y="1097280"/>
            <a:ext cx="39593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INDIA'S FIRST ONLINE CYBER CAFE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Click. Sit. Done.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4206240"/>
            <a:ext cx="85313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 exam forms from home — just like a cyber cafe, but online!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 details, upload documents — we handle the rest.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0" y="5303520"/>
            <a:ext cx="39593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566928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Pitch Deck  •  2025  •  www.clickandsit.vercel.app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3840480" cy="6400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14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560320"/>
            <a:ext cx="2926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year, crores of students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struggle with form filling.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cyber cafes are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expensive, inconvenient,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error-prone.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5029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 Cr+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55778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 affected annually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06240" y="365760"/>
            <a:ext cx="3657600" cy="1737360"/>
          </a:xfrm>
          <a:prstGeom prst="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06240" y="365760"/>
            <a:ext cx="73152" cy="1737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548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0" y="548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 Required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96012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 must physically visit cyber cafes — wasting hours on travel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138160" y="365760"/>
            <a:ext cx="3657600" cy="1737360"/>
          </a:xfrm>
          <a:prstGeom prst="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38160" y="365760"/>
            <a:ext cx="73152" cy="1737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548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961120" y="548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Queues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61120" y="96012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Hours of waiting near deadlines for a 10-minute form filling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06240" y="2377440"/>
            <a:ext cx="3657600" cy="1737360"/>
          </a:xfrm>
          <a:prstGeom prst="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206240" y="2377440"/>
            <a:ext cx="73152" cy="1737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4434840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💸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029200" y="2560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Costs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29718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₹200-500 per form. Rural students pay even more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138160" y="2377440"/>
            <a:ext cx="3657600" cy="1737360"/>
          </a:xfrm>
          <a:prstGeom prst="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8160" y="2377440"/>
            <a:ext cx="73152" cy="1737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9" name="Text 27"/>
          <p:cNvSpPr/>
          <p:nvPr/>
        </p:nvSpPr>
        <p:spPr>
          <a:xfrm>
            <a:off x="8366760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❌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961120" y="2560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Prone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961120" y="29718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filling = mistakes. One wrong field = rejected application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06240" y="4389120"/>
            <a:ext cx="3657600" cy="1737360"/>
          </a:xfrm>
          <a:prstGeom prst="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206240" y="4389120"/>
            <a:ext cx="73152" cy="1737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4" name="Text 32"/>
          <p:cNvSpPr/>
          <p:nvPr/>
        </p:nvSpPr>
        <p:spPr>
          <a:xfrm>
            <a:off x="443484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5029200" y="4572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Divide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0" y="49834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lack internet/PC access. Cyber cafe is only option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138160" y="4389120"/>
            <a:ext cx="3657600" cy="1737360"/>
          </a:xfrm>
          <a:prstGeom prst="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38160" y="4389120"/>
            <a:ext cx="73152" cy="1737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9" name="Text 37"/>
          <p:cNvSpPr/>
          <p:nvPr/>
        </p:nvSpPr>
        <p:spPr>
          <a:xfrm>
            <a:off x="836676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🔒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8961120" y="4572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Risk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961120" y="49834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Sharing personal documents at unknown cafes = security risk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Solution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3716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188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cyber cafe experience — but from your phone or laptop. 100% online, 100% convenient.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029200" cy="457200"/>
          </a:xfrm>
          <a:prstGeom prst="rect">
            <a:avLst>
              <a:gd name="adj" fmla="val 16000"/>
            </a:avLst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👤  USER SIDE — What Students 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05840" y="2468880"/>
            <a:ext cx="731520" cy="7315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468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520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exam form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828800" y="26060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331720" y="2468880"/>
            <a:ext cx="731520" cy="7315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2331720" y="2468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3246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Basic Info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57400" y="3520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Name, mobile, email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154680" y="26060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657600" y="2468880"/>
            <a:ext cx="731520" cy="7315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0" y="2468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83280" y="3246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Docs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83280" y="3520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Photo, ID, signature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480560" y="26060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983480" y="2468880"/>
            <a:ext cx="731520" cy="7315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2468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709160" y="3246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09160" y="3520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 / Card / Net Banking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3840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⬇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31520" y="4297680"/>
            <a:ext cx="5029200" cy="457200"/>
          </a:xfrm>
          <a:prstGeom prst="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4297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👨‍💻  ADMIN SIDE — What Our Team Does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05840" y="4937760"/>
            <a:ext cx="731520" cy="7315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1005840" y="4937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31520" y="5715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59893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details &amp; docs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28800" y="50749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2331720" y="4937760"/>
            <a:ext cx="731520" cy="7315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9" name="Text 37"/>
          <p:cNvSpPr/>
          <p:nvPr/>
        </p:nvSpPr>
        <p:spPr>
          <a:xfrm>
            <a:off x="2331720" y="4937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2057400" y="5715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057400" y="59893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 official form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154680" y="50749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3657600" y="4937760"/>
            <a:ext cx="731520" cy="7315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4" name="Text 42"/>
          <p:cNvSpPr/>
          <p:nvPr/>
        </p:nvSpPr>
        <p:spPr>
          <a:xfrm>
            <a:off x="3657600" y="4937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3383280" y="5715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383280" y="59893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 on portal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480560" y="50749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4983480" y="4937760"/>
            <a:ext cx="731520" cy="7315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9" name="Text 47"/>
          <p:cNvSpPr/>
          <p:nvPr/>
        </p:nvSpPr>
        <p:spPr>
          <a:xfrm>
            <a:off x="4983480" y="4937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4709160" y="5715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Done!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709160" y="59893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notified ✅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217920" y="1828800"/>
            <a:ext cx="5239512" cy="4572000"/>
          </a:xfrm>
          <a:prstGeom prst="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217920" y="1828800"/>
            <a:ext cx="73152" cy="4572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4" name="Text 52"/>
          <p:cNvSpPr/>
          <p:nvPr/>
        </p:nvSpPr>
        <p:spPr>
          <a:xfrm>
            <a:off x="6583680" y="20116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Works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65836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7132320" y="26517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2-Minute Signup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13232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 fill basic info in under 2 minutes — no complex forms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58368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7132320" y="3383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Errors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132320" y="36576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 team fills official forms accurately — guaranteed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583680" y="4114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7132320" y="41148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Multi-Platform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7132320" y="43891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Website + Telegram Bot — use whichever is convenient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58368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7132320" y="4846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Tracking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7132320" y="51206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shows live status — from submission to completion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583680" y="5577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📤</a:t>
            </a:r>
            <a:endParaRPr lang="en-US" sz="1800" dirty="0"/>
          </a:p>
        </p:txBody>
      </p:sp>
      <p:sp>
        <p:nvSpPr>
          <p:cNvPr id="68" name="Text 66"/>
          <p:cNvSpPr/>
          <p:nvPr/>
        </p:nvSpPr>
        <p:spPr>
          <a:xfrm>
            <a:off x="7132320" y="5577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Delivery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7132320" y="5852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Filled form, receipt, acknowledgement — all uploaded to your account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Opportunity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3716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2651760" cy="2011680"/>
          </a:xfrm>
          <a:prstGeom prst="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73152" cy="20116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544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 Cr+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 in India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Largest student population globally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37560" y="1371600"/>
            <a:ext cx="2651760" cy="2011680"/>
          </a:xfrm>
          <a:prstGeom prst="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37560" y="1371600"/>
            <a:ext cx="73152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3337560" y="15544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Cr+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33756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 Applications/Year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37560" y="2560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+ Private exams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651760" cy="2011680"/>
          </a:xfrm>
          <a:prstGeom prst="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371600"/>
            <a:ext cx="73152" cy="2011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5544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₹5,000 Cr+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21792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 Cafe Market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2560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filling services alone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098280" y="1371600"/>
            <a:ext cx="2651760" cy="2011680"/>
          </a:xfrm>
          <a:prstGeom prst="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98280" y="1371600"/>
            <a:ext cx="73152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9098280" y="15544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 Lakh+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09828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 Cafes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98280" y="2560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Across 700+ districts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1520" y="365760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Segments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57200" y="4206240"/>
            <a:ext cx="2651760" cy="2103120"/>
          </a:xfrm>
          <a:prstGeom prst="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57200" y="4343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57200" y="4800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Exams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5120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SSC, UPSC, Railway, Banking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" y="5623560"/>
            <a:ext cx="1737360" cy="365760"/>
          </a:xfrm>
          <a:prstGeom prst="rect">
            <a:avLst>
              <a:gd name="adj" fmla="val 37500"/>
            </a:avLst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56235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Cr+ applications/year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37560" y="4206240"/>
            <a:ext cx="2651760" cy="2103120"/>
          </a:xfrm>
          <a:prstGeom prst="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337560" y="4343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3337560" y="4800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College Admissions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520440" y="5120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JEE, NEET, CUET, University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794760" y="5623560"/>
            <a:ext cx="1737360" cy="365760"/>
          </a:xfrm>
          <a:prstGeom prst="rect">
            <a:avLst>
              <a:gd name="adj" fmla="val 37500"/>
            </a:avLst>
          </a:prstGeom>
          <a:solidFill>
            <a:srgbClr val="F97316"/>
          </a:solidFill>
          <a:ln/>
        </p:spPr>
      </p:sp>
      <p:sp>
        <p:nvSpPr>
          <p:cNvPr id="40" name="Text 38"/>
          <p:cNvSpPr/>
          <p:nvPr/>
        </p:nvSpPr>
        <p:spPr>
          <a:xfrm>
            <a:off x="3794760" y="56235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1.5 Cr+ students/year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217920" y="4206240"/>
            <a:ext cx="2651760" cy="2103120"/>
          </a:xfrm>
          <a:prstGeom prst="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217920" y="4343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6217920" y="4800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Scholarships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0" y="5120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NSP, State scholarships, Fee waivers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675120" y="5623560"/>
            <a:ext cx="1737360" cy="365760"/>
          </a:xfrm>
          <a:prstGeom prst="rect">
            <a:avLst>
              <a:gd name="adj" fmla="val 37500"/>
            </a:avLst>
          </a:prstGeom>
          <a:solidFill>
            <a:srgbClr val="10B981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56235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 Lakh+ applications/year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098280" y="4206240"/>
            <a:ext cx="2651760" cy="2103120"/>
          </a:xfrm>
          <a:prstGeom prst="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098280" y="4343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📄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9098280" y="4800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Certificates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281160" y="5120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Income, Caste, Domicile, Character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555480" y="5623560"/>
            <a:ext cx="1737360" cy="365760"/>
          </a:xfrm>
          <a:prstGeom prst="rect">
            <a:avLst>
              <a:gd name="adj" fmla="val 37500"/>
            </a:avLst>
          </a:prstGeom>
          <a:solidFill>
            <a:srgbClr val="8B5CF6"/>
          </a:solidFill>
          <a:ln/>
        </p:spPr>
      </p:sp>
      <p:sp>
        <p:nvSpPr>
          <p:cNvPr id="52" name="Text 50"/>
          <p:cNvSpPr/>
          <p:nvPr/>
        </p:nvSpPr>
        <p:spPr>
          <a:xfrm>
            <a:off x="9555480" y="56235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Cr+ certificates/year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Model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3716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18872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Dual revenue model with high margins and zero inventory risk.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3566160" cy="27432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737360"/>
            <a:ext cx="73152" cy="2743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Fee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2743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₹50 – ₹200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32004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form submission. Varies by complexity. This is our primary revenue.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54480" y="4023360"/>
            <a:ext cx="1371600" cy="320040"/>
          </a:xfrm>
          <a:prstGeom prst="rect">
            <a:avLst>
              <a:gd name="adj" fmla="val 34286"/>
            </a:avLst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4023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 of revenue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1737360"/>
            <a:ext cx="3566160" cy="27432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51960" y="1737360"/>
            <a:ext cx="73152" cy="2743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425196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251960" y="2377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Fee Pass-through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251960" y="2743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Fee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26280" y="32004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collect and pay the official portal fee. No markup, just convenience.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49240" y="4023360"/>
            <a:ext cx="1371600" cy="320040"/>
          </a:xfrm>
          <a:prstGeom prst="rect">
            <a:avLst>
              <a:gd name="adj" fmla="val 34286"/>
            </a:avLst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5349240" y="4023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 of revenue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46720" y="1737360"/>
            <a:ext cx="3566160" cy="27432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46720" y="1737360"/>
            <a:ext cx="73152" cy="27432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046720" y="2377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Services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046720" y="2743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₹100 – ₹500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21040" y="32004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Express processing, priority support, form correction, deadline reminders.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144000" y="4023360"/>
            <a:ext cx="1371600" cy="320040"/>
          </a:xfrm>
          <a:prstGeom prst="rect">
            <a:avLst>
              <a:gd name="adj" fmla="val 34286"/>
            </a:avLst>
          </a:prstGeom>
          <a:solidFill>
            <a:srgbClr val="F97316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0" y="4023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 of revenue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754880"/>
            <a:ext cx="11274552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4754880"/>
            <a:ext cx="73152" cy="15544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Economics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22960" y="5303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Service Fee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" y="5577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₹100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2651760" y="5303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Gateway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651760" y="5577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-₹5 (2%)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4480560" y="5303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Server/Hosting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480560" y="5577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-₹2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309360" y="5303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 Cost/Form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5577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-₹15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38160" y="5303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Margin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138160" y="5577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₹78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9966960" y="5303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966960" y="5577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Features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3716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508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3-Step Form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2402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Basic info → Documents → Pay. 2 minutes max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37560" y="137160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337560" y="1508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337560" y="1920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 Bot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website via Telegram — apply, track, pay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0" y="1508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💳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217920" y="1920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Razorpay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UPI, Cards, Net Banking — secure payments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098280" y="137160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98280" y="1508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📤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098280" y="1920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Multi-File Upload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235440" y="22402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uploads filled form + receipt + docs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06324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5720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Auto-Detect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" y="3931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 categories auto-detect official portal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37560" y="306324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3756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333756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Dashboard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474720" y="3931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Processing queue, status, revenue reports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306324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21792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🔔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21792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55080" y="3931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Email, SMS, Telegram — real-time updates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098280" y="306324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098280" y="32004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909828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Chatbot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235440" y="3931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24/7 support — FAQs, queries, help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" y="4892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🌙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457200" y="5303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Dark Mode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94360" y="56235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Beautiful dark/light theme for all pages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337560" y="475488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337560" y="4892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3337560" y="5303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&amp; Filter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474720" y="56235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forms by category, name, deadline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217920" y="475488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217920" y="4892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🎟️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6217920" y="5303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Coupons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355080" y="56235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Discount codes for referrals &amp; promotions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098280" y="4754880"/>
            <a:ext cx="2651760" cy="1463040"/>
          </a:xfrm>
          <a:prstGeom prst="rect">
            <a:avLst>
              <a:gd name="adj" fmla="val 7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098280" y="4892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54" name="Text 52"/>
          <p:cNvSpPr/>
          <p:nvPr/>
        </p:nvSpPr>
        <p:spPr>
          <a:xfrm>
            <a:off x="9098280" y="5303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235440" y="56235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charts, trends, success rates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Competitive Advantage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3716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10817352" cy="502920"/>
          </a:xfrm>
          <a:prstGeom prst="rect">
            <a:avLst>
              <a:gd name="adj" fmla="val 14545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716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17520" y="1371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Cyber Cafe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60720" y="1371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DIY (Gov Portal)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1371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10817352" cy="43891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92024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 Required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9202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 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19202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03920" y="19202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✅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395728"/>
            <a:ext cx="108173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395728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per Form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017520" y="23957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₹200-500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23957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(Gov Fee)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503920" y="23957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₹50-200 + Gov Fee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871216"/>
            <a:ext cx="10817352" cy="43891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71216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Assistance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17520" y="287121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60720" y="287121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03920" y="287121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Support ✅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346704"/>
            <a:ext cx="108173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346704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Availability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017520" y="334670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AM - 9 PM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760720" y="334670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24/7 (complex)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03920" y="334670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24/7 (easy) ✅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822192"/>
            <a:ext cx="10817352" cy="43891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3822192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Rate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17520" y="382219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 ⚠️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760720" y="382219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03920" y="382219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Very Low ✅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297680"/>
            <a:ext cx="108173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429768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Tracking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017520" y="429768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call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60720" y="429768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Basic portal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503920" y="429768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✅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773168"/>
            <a:ext cx="10817352" cy="43891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773168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Options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017520" y="477316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/ UPI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60720" y="477316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 Portal only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503920" y="477316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Methods ✅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" y="5248656"/>
            <a:ext cx="108173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48656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Upload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017520" y="524865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USB / Print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760720" y="524865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UI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03920" y="524865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 &amp; Drop ✅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724144"/>
            <a:ext cx="10817352" cy="43891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724144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 Bot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17520" y="572414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760720" y="572414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03920" y="572414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Full bot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8503920" y="1371600"/>
            <a:ext cx="2743200" cy="502920"/>
          </a:xfrm>
          <a:prstGeom prst="rect">
            <a:avLst>
              <a:gd name="adj" fmla="val 14545"/>
            </a:avLst>
          </a:prstGeom>
          <a:solidFill>
            <a:srgbClr val="10B981"/>
          </a:solidFill>
          <a:ln/>
        </p:spPr>
      </p:sp>
      <p:sp>
        <p:nvSpPr>
          <p:cNvPr id="59" name="Text 57"/>
          <p:cNvSpPr/>
          <p:nvPr/>
        </p:nvSpPr>
        <p:spPr>
          <a:xfrm>
            <a:off x="8503920" y="1371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WINNER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3716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18872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Modern, scalable, cost-effective — built for speed and reliability.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2651760" cy="457200"/>
          </a:xfrm>
          <a:prstGeom prst="rect">
            <a:avLst>
              <a:gd name="adj" fmla="val 16000"/>
            </a:avLst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788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framework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library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429768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709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safety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525780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4360" y="5349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5669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Styling + Dark mode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37560" y="1737360"/>
            <a:ext cx="2651760" cy="457200"/>
          </a:xfrm>
          <a:prstGeom prst="rect">
            <a:avLst>
              <a:gd name="adj" fmla="val 16000"/>
            </a:avLst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333756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37560" y="237744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Prisma ORM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2788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access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37560" y="333756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47472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NextAuth.js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37560" y="429768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47472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Base64 Storage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709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handling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337560" y="525780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474720" y="5349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Routes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474720" y="5669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endpoints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1737360"/>
            <a:ext cx="2651760" cy="457200"/>
          </a:xfrm>
          <a:prstGeom prst="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&amp; Payments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17920" y="237744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55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55080" y="2788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hosting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217920" y="333756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35508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Razorpay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5508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gateway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217920" y="429768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35508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Msg91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55080" y="4709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SMS / OTP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217920" y="525780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355080" y="5349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Connection Pool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355080" y="5669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Optimized queries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098280" y="1737360"/>
            <a:ext cx="2651760" cy="457200"/>
          </a:xfrm>
          <a:prstGeom prst="rect">
            <a:avLst>
              <a:gd name="adj" fmla="val 16000"/>
            </a:avLst>
          </a:prstGeom>
          <a:solidFill>
            <a:srgbClr val="F97316"/>
          </a:solidFill>
          <a:ln/>
        </p:spPr>
      </p:sp>
      <p:sp>
        <p:nvSpPr>
          <p:cNvPr id="52" name="Text 50"/>
          <p:cNvSpPr/>
          <p:nvPr/>
        </p:nvSpPr>
        <p:spPr>
          <a:xfrm>
            <a:off x="90982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 &amp; DevOps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9098280" y="237744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923544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 Bot API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235440" y="2788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bot replica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098280" y="333756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923544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23544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+ hosting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98280" y="429768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923544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235440" y="4709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9098280" y="5257800"/>
            <a:ext cx="2651760" cy="82296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9235440" y="5349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cron-job.org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235440" y="5669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Keep-alive pings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760720"/>
            <a:ext cx="11274552" cy="548640"/>
          </a:xfrm>
          <a:prstGeom prst="rect">
            <a:avLst>
              <a:gd name="adj" fmla="val 2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57200" y="5760720"/>
            <a:ext cx="73152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7" name="Text 65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 Total hosting cost: ₹0/month (Vercel Free Tier + Supabase Free Tier + Razorpay = No upfront cost!)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Traction &amp; Roadmap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3716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188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Status — MVP is LIVE ✅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1737360" cy="457200"/>
          </a:xfrm>
          <a:prstGeom prst="rect">
            <a:avLst>
              <a:gd name="adj" fmla="val 16000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7373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Website Live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77440" y="1737360"/>
            <a:ext cx="1737360" cy="457200"/>
          </a:xfrm>
          <a:prstGeom prst="rect">
            <a:avLst>
              <a:gd name="adj" fmla="val 16000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17373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Payments Active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97680" y="1737360"/>
            <a:ext cx="1737360" cy="457200"/>
          </a:xfrm>
          <a:prstGeom prst="rect">
            <a:avLst>
              <a:gd name="adj" fmla="val 16000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7373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Admin Panel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1737360" cy="457200"/>
          </a:xfrm>
          <a:prstGeom prst="rect">
            <a:avLst>
              <a:gd name="adj" fmla="val 16000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7373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Telegram Bot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138160" y="1737360"/>
            <a:ext cx="1737360" cy="457200"/>
          </a:xfrm>
          <a:prstGeom prst="rect">
            <a:avLst>
              <a:gd name="adj" fmla="val 16000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17373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Multi-File Upload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058400" y="1737360"/>
            <a:ext cx="1737360" cy="457200"/>
          </a:xfrm>
          <a:prstGeom prst="rect">
            <a:avLst>
              <a:gd name="adj" fmla="val 16000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17373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WhatsApp Support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24688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Roadmap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7200" y="3017520"/>
            <a:ext cx="2651760" cy="310896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017520"/>
            <a:ext cx="73152" cy="3108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017520"/>
            <a:ext cx="2651760" cy="457200"/>
          </a:xfrm>
          <a:prstGeom prst="rect">
            <a:avLst>
              <a:gd name="adj" fmla="val 16000"/>
            </a:avLst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 2025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5661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&amp; Validate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023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100 paying users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434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10 form categories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WhatsApp integration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" y="5257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Referral program launch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37560" y="3017520"/>
            <a:ext cx="2651760" cy="310896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337560" y="3017520"/>
            <a:ext cx="73152" cy="31089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3" name="Shape 31"/>
          <p:cNvSpPr/>
          <p:nvPr/>
        </p:nvSpPr>
        <p:spPr>
          <a:xfrm>
            <a:off x="3337560" y="3017520"/>
            <a:ext cx="2651760" cy="457200"/>
          </a:xfrm>
          <a:prstGeom prst="rect">
            <a:avLst>
              <a:gd name="adj" fmla="val 16000"/>
            </a:avLst>
          </a:prstGeom>
          <a:solidFill>
            <a:srgbClr val="F97316"/>
          </a:solidFill>
          <a:ln/>
        </p:spPr>
      </p:sp>
      <p:sp>
        <p:nvSpPr>
          <p:cNvPr id="34" name="Text 32"/>
          <p:cNvSpPr/>
          <p:nvPr/>
        </p:nvSpPr>
        <p:spPr>
          <a:xfrm>
            <a:off x="333756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 2025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337560" y="35661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 &amp; Grow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520440" y="4023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500+ registered users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520440" y="4434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30+ form categories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52044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Android PWA app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520440" y="5257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SMS notifications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3017520"/>
            <a:ext cx="2651760" cy="310896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17920" y="3017520"/>
            <a:ext cx="73152" cy="31089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0" y="3017520"/>
            <a:ext cx="2651760" cy="457200"/>
          </a:xfrm>
          <a:prstGeom prst="rect">
            <a:avLst>
              <a:gd name="adj" fmla="val 16000"/>
            </a:avLst>
          </a:prstGeom>
          <a:solidFill>
            <a:srgbClr val="8B5CF6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 2025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217920" y="35661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 Reach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00800" y="4023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2,000+ users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0800" y="4434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50+ categories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Multi-language (Hindi)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5257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Agent/franchise model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098280" y="3017520"/>
            <a:ext cx="2651760" cy="3108960"/>
          </a:xfrm>
          <a:prstGeom prst="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098280" y="3017520"/>
            <a:ext cx="73152" cy="3108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1" name="Shape 49"/>
          <p:cNvSpPr/>
          <p:nvPr/>
        </p:nvSpPr>
        <p:spPr>
          <a:xfrm>
            <a:off x="9098280" y="3017520"/>
            <a:ext cx="2651760" cy="457200"/>
          </a:xfrm>
          <a:prstGeom prst="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52" name="Text 50"/>
          <p:cNvSpPr/>
          <p:nvPr/>
        </p:nvSpPr>
        <p:spPr>
          <a:xfrm>
            <a:off x="909828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 2025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098280" y="35661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Growth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9281160" y="4023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5,000+ users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9281160" y="4434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₹2L+/month revenue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928116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Premium services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281160" y="5257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B2B partnerships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3716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0" y="1371600"/>
            <a:ext cx="6702552" cy="27432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0" y="1371600"/>
            <a:ext cx="73152" cy="2743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0" y="1645920"/>
            <a:ext cx="1645920" cy="1645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1645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029200" y="1737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Ankit — Founder &amp; Developer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Full-stack developer who built ClickNsit from scratch.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Handles product, tech, operations, and growth.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Passionate about solving real problems for Indian students.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868680" cy="320040"/>
          </a:xfrm>
          <a:prstGeom prst="rect">
            <a:avLst>
              <a:gd name="adj" fmla="val 34286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347472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989320" y="3474720"/>
            <a:ext cx="868680" cy="320040"/>
          </a:xfrm>
          <a:prstGeom prst="rect">
            <a:avLst>
              <a:gd name="adj" fmla="val 34286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5989320" y="347472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49440" y="3474720"/>
            <a:ext cx="868680" cy="320040"/>
          </a:xfrm>
          <a:prstGeom prst="rect">
            <a:avLst>
              <a:gd name="adj" fmla="val 34286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0" y="347472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909560" y="3474720"/>
            <a:ext cx="868680" cy="320040"/>
          </a:xfrm>
          <a:prstGeom prst="rect">
            <a:avLst>
              <a:gd name="adj" fmla="val 34286"/>
            </a:avLst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7909560" y="347472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Prisma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869680" y="3474720"/>
            <a:ext cx="868680" cy="320040"/>
          </a:xfrm>
          <a:prstGeom prst="rect">
            <a:avLst>
              <a:gd name="adj" fmla="val 34286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8869680" y="347472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829800" y="3474720"/>
            <a:ext cx="868680" cy="320040"/>
          </a:xfrm>
          <a:prstGeom prst="rect">
            <a:avLst>
              <a:gd name="adj" fmla="val 34286"/>
            </a:avLst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347472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" y="43891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Looking For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4937760"/>
            <a:ext cx="3566160" cy="1280160"/>
          </a:xfrm>
          <a:prstGeom prst="rect">
            <a:avLst>
              <a:gd name="adj" fmla="val 8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5720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Co-founder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5440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/ Growth partner to scale the platform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51960" y="4937760"/>
            <a:ext cx="3566160" cy="1280160"/>
          </a:xfrm>
          <a:prstGeom prst="rect">
            <a:avLst>
              <a:gd name="adj" fmla="val 8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5196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📣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800600" y="50292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Marketing Lead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00600" y="5440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College outreach, social media, content creation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46720" y="4937760"/>
            <a:ext cx="3566160" cy="1280160"/>
          </a:xfrm>
          <a:prstGeom prst="rect">
            <a:avLst>
              <a:gd name="adj" fmla="val 8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4672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👨‍💻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8595360" y="50292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Team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595360" y="5440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fillers who can process applications accurately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ClickNsit — Online Cyber Cafe  |  www.clickandsit.vercel.app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Projections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3716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18872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Conservative estimates based on ₹100 avg service fee.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10972800" cy="502920"/>
          </a:xfrm>
          <a:prstGeom prst="rect">
            <a:avLst>
              <a:gd name="adj" fmla="val 14545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737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0" y="1737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Year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0" y="1737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Year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0" y="1737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Year 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286000"/>
            <a:ext cx="10972800" cy="43891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28600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 Users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0" y="228600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5,000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228600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0" y="228600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1,00,000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61488"/>
            <a:ext cx="109728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76148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Paying Users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0" y="276148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0" y="276148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5,000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0" y="276148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10972800" cy="43891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23697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Forms/Month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00400" y="323697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323697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5,000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686800" y="323697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109728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1246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Service Fee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00400" y="371246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371246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₹120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686800" y="371246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₹150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0972800" cy="43891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18795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Revenue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200400" y="418795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₹1,00,000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43600" y="418795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₹6,00,000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686800" y="418795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₹37,50,000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4663440"/>
            <a:ext cx="109728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6634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Revenue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200400" y="46634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₹12,00,000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943600" y="46634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₹72,00,000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86800" y="46634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₹4,50,00,000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5138928"/>
            <a:ext cx="10972800" cy="43891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51389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Operating Cost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200400" y="51389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₹3,60,000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943600" y="51389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₹18,00,000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686800" y="51389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₹90,00,000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5614416"/>
            <a:ext cx="10972800" cy="438912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561441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Profit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200400" y="561441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₹8,40,000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943600" y="561441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₹54,00,000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686800" y="561441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₹3,60,00,000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6089904"/>
            <a:ext cx="10972800" cy="438912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608990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Profit Margin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3200400" y="608990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943600" y="608990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75%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686800" y="608990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" y="5486400"/>
            <a:ext cx="10972800" cy="548640"/>
          </a:xfrm>
          <a:prstGeom prst="rect">
            <a:avLst>
              <a:gd name="adj" fmla="val 20000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7200" y="5486400"/>
            <a:ext cx="73152" cy="5486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1" name="Text 59"/>
          <p:cNvSpPr/>
          <p:nvPr/>
        </p:nvSpPr>
        <p:spPr>
          <a:xfrm>
            <a:off x="822960" y="54864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 Break-even in Month 1  |  Bootstrapped — zero VC funding needed  |  Revenue-positive from Day 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0" y="731520"/>
            <a:ext cx="39593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need to scale ClickNsit to 10,000+ users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560320"/>
            <a:ext cx="4572000" cy="1554480"/>
          </a:xfrm>
          <a:prstGeom prst="rect">
            <a:avLst>
              <a:gd name="adj" fmla="val 7059"/>
            </a:avLst>
          </a:prstGeom>
          <a:solidFill>
            <a:srgbClr val="1A2744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👥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743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Early Users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32004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 to validate the product in first 30 days. College campus ambassadors.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0" y="2560320"/>
            <a:ext cx="4572000" cy="1554480"/>
          </a:xfrm>
          <a:prstGeom prst="rect">
            <a:avLst>
              <a:gd name="adj" fmla="val 7059"/>
            </a:avLst>
          </a:prstGeom>
          <a:solidFill>
            <a:srgbClr val="1A2744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📣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15200" y="2743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Marketing Support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0" y="32004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College partnerships, social media promotion, word-of-mouth referrals.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371600" y="4389120"/>
            <a:ext cx="4572000" cy="1554480"/>
          </a:xfrm>
          <a:prstGeom prst="rect">
            <a:avLst>
              <a:gd name="adj" fmla="val 7059"/>
            </a:avLst>
          </a:prstGeom>
          <a:solidFill>
            <a:srgbClr val="1A274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4592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286000" y="45720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Funding (Optional)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286000" y="5029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₹5-10 Lakh for marketing, team hiring, and operations expansion.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4389120"/>
            <a:ext cx="4572000" cy="1554480"/>
          </a:xfrm>
          <a:prstGeom prst="rect">
            <a:avLst>
              <a:gd name="adj" fmla="val 7059"/>
            </a:avLst>
          </a:prstGeom>
          <a:solidFill>
            <a:srgbClr val="1A2744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🤝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315200" y="45720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Partners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0" y="5029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College admin offices, coaching centers, existing cyber cafe networks.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2743200"/>
            <a:ext cx="5486400" cy="54864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0" y="914400"/>
            <a:ext cx="39593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37160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Click. Sit. Done. 🖥️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0" y="3200400"/>
            <a:ext cx="3959352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0" y="3566160"/>
            <a:ext cx="5788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www.clickandsit.vercel.app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4023360"/>
            <a:ext cx="5788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support@clickandsit.in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4480560"/>
            <a:ext cx="5788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 +91 9650752995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4937760"/>
            <a:ext cx="5788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WhatsApp: +91 9650752995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5394960"/>
            <a:ext cx="5788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 Telegram Bot: @clicknsit_bot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0" y="5852160"/>
            <a:ext cx="5788152" cy="3657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"India's First Online Cyber Cafe — Made for Students, by Students"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ClickNsit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ClickNsit Pitch Deck 2025</dc:title>
  <dc:subject>ClickNsit — Online Cyber Cafe Startup Pitch Deck</dc:subject>
  <dc:creator>ClickNsit</dc:creator>
  <cp:lastModifiedBy>ClickNsit</cp:lastModifiedBy>
  <cp:revision>1</cp:revision>
  <dcterms:created xsi:type="dcterms:W3CDTF">2026-09-03T09:05:31Z</dcterms:created>
  <dcterms:modified xsi:type="dcterms:W3CDTF">2026-09-03T09:05:31Z</dcterms:modified>
</cp:coreProperties>
</file>