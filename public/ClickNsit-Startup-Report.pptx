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4572000" cy="4572000"/>
          </a:xfrm>
          <a:prstGeom prst="ellipse">
            <a:avLst/>
          </a:prstGeom>
          <a:solidFill>
            <a:srgbClr val="1E293B"/>
          </a:solidFill>
          <a:ln/>
        </p:spPr>
      </p:sp>
      <p:sp>
        <p:nvSpPr>
          <p:cNvPr id="4" name="Shape 2"/>
          <p:cNvSpPr/>
          <p:nvPr/>
        </p:nvSpPr>
        <p:spPr>
          <a:xfrm>
            <a:off x="1371600" y="1828800"/>
            <a:ext cx="1371600" cy="73152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201168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ClickNsit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1371600" y="30175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Cyber Cafe Platform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371600" y="35661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Click. Sit. Done.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371600" y="4297680"/>
            <a:ext cx="9144000" cy="36576"/>
          </a:xfrm>
          <a:prstGeom prst="rect">
            <a:avLst/>
          </a:prstGeom>
          <a:solidFill>
            <a:srgbClr val="374151"/>
          </a:solidFill>
          <a:ln/>
        </p:spPr>
      </p:sp>
      <p:sp>
        <p:nvSpPr>
          <p:cNvPr id="9" name="Text 7"/>
          <p:cNvSpPr/>
          <p:nvPr/>
        </p:nvSpPr>
        <p:spPr>
          <a:xfrm>
            <a:off x="1371600" y="44805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Startup Project Report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49377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by: Akshay  |  www.clickandsit.vercel.app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71600" y="53035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August 2026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ClickNsit — Startup Project Report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25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82880"/>
            <a:ext cx="1645920" cy="594360"/>
          </a:xfrm>
          <a:prstGeom prst="roundRect">
            <a:avLst>
              <a:gd name="adj" fmla="val 15385"/>
            </a:avLst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8288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286000" y="13716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of Contents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ClickNsit — Startup Project Report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14400" y="1280160"/>
            <a:ext cx="5029200" cy="548640"/>
          </a:xfrm>
          <a:prstGeom prst="roundRect">
            <a:avLst>
              <a:gd name="adj" fmla="val 8333"/>
            </a:avLst>
          </a:prstGeom>
          <a:solidFill>
            <a:srgbClr val="DBEAFE"/>
          </a:solidFill>
          <a:ln/>
          <a:effectLst>
            <a:outerShdw sx="100000" sy="100000" kx="0" ky="0" algn="bl" rotWithShape="0" blurRad="38100" dist="12700" dir="16200000">
              <a:srgbClr val="D1D5DB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051560" y="128016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CH-1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011680" y="12801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Entrepreneurship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" y="1938528"/>
            <a:ext cx="50292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1D5DB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051560" y="1938528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CH-2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011680" y="1938528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 of Startup Activity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4400" y="2596896"/>
            <a:ext cx="5029200" cy="548640"/>
          </a:xfrm>
          <a:prstGeom prst="roundRect">
            <a:avLst>
              <a:gd name="adj" fmla="val 8333"/>
            </a:avLst>
          </a:prstGeom>
          <a:solidFill>
            <a:srgbClr val="DBEAFE"/>
          </a:solidFill>
          <a:ln/>
          <a:effectLst>
            <a:outerShdw sx="100000" sy="100000" kx="0" ky="0" algn="bl" rotWithShape="0" blurRad="38100" dist="12700" dir="16200000">
              <a:srgbClr val="D1D5DB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051560" y="2596896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CH-3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011680" y="2596896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the Startup Idea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4400" y="3255264"/>
            <a:ext cx="50292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1D5DB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051560" y="3255264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CH-4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011680" y="3255264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Research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14400" y="3913632"/>
            <a:ext cx="5029200" cy="548640"/>
          </a:xfrm>
          <a:prstGeom prst="roundRect">
            <a:avLst>
              <a:gd name="adj" fmla="val 8333"/>
            </a:avLst>
          </a:prstGeom>
          <a:solidFill>
            <a:srgbClr val="DBEAFE"/>
          </a:solidFill>
          <a:ln/>
          <a:effectLst>
            <a:outerShdw sx="100000" sy="100000" kx="0" ky="0" algn="bl" rotWithShape="0" blurRad="38100" dist="12700" dir="16200000">
              <a:srgbClr val="D1D5DB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1051560" y="3913632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CH-5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011680" y="3913632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14400" y="4572000"/>
            <a:ext cx="50292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1D5DB">
                <a:alpha val="3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051560" y="45720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CH-6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011680" y="45720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Planning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914400" y="5230368"/>
            <a:ext cx="5029200" cy="548640"/>
          </a:xfrm>
          <a:prstGeom prst="roundRect">
            <a:avLst>
              <a:gd name="adj" fmla="val 8333"/>
            </a:avLst>
          </a:prstGeom>
          <a:solidFill>
            <a:srgbClr val="DBEAFE"/>
          </a:solidFill>
          <a:ln/>
          <a:effectLst>
            <a:outerShdw sx="100000" sy="100000" kx="0" ky="0" algn="bl" rotWithShape="0" blurRad="38100" dist="12700" dir="16200000">
              <a:srgbClr val="D1D5DB">
                <a:alpha val="3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1051560" y="5230368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CH-7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011680" y="5230368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Strategy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400800" y="1280160"/>
            <a:ext cx="50292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1D5DB">
                <a:alpha val="3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537960" y="128016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CH-8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498080" y="12801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Plan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400800" y="1938528"/>
            <a:ext cx="5029200" cy="548640"/>
          </a:xfrm>
          <a:prstGeom prst="roundRect">
            <a:avLst>
              <a:gd name="adj" fmla="val 8333"/>
            </a:avLst>
          </a:prstGeom>
          <a:solidFill>
            <a:srgbClr val="DBEAFE"/>
          </a:solidFill>
          <a:ln/>
          <a:effectLst>
            <a:outerShdw sx="100000" sy="100000" kx="0" ky="0" algn="bl" rotWithShape="0" blurRad="38100" dist="12700" dir="16200000">
              <a:srgbClr val="D1D5DB">
                <a:alpha val="3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537960" y="1938528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CH-9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498080" y="1938528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Faced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400800" y="2596896"/>
            <a:ext cx="50292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1D5DB">
                <a:alpha val="30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6537960" y="2596896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CH-10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498080" y="2596896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Outcomes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400800" y="3255264"/>
            <a:ext cx="5029200" cy="548640"/>
          </a:xfrm>
          <a:prstGeom prst="roundRect">
            <a:avLst>
              <a:gd name="adj" fmla="val 8333"/>
            </a:avLst>
          </a:prstGeom>
          <a:solidFill>
            <a:srgbClr val="DBEAFE"/>
          </a:solidFill>
          <a:ln/>
          <a:effectLst>
            <a:outerShdw sx="100000" sy="100000" kx="0" ky="0" algn="bl" rotWithShape="0" blurRad="38100" dist="12700" dir="16200000">
              <a:srgbClr val="D1D5DB">
                <a:alpha val="3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6537960" y="3255264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400800" y="3913632"/>
            <a:ext cx="50292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1D5DB">
                <a:alpha val="30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6537960" y="3913632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400800" y="4572000"/>
            <a:ext cx="5029200" cy="548640"/>
          </a:xfrm>
          <a:prstGeom prst="roundRect">
            <a:avLst>
              <a:gd name="adj" fmla="val 8333"/>
            </a:avLst>
          </a:prstGeom>
          <a:solidFill>
            <a:srgbClr val="DBEAFE"/>
          </a:solidFill>
          <a:ln/>
          <a:effectLst>
            <a:outerShdw sx="100000" sy="100000" kx="0" ky="0" algn="bl" rotWithShape="0" blurRad="38100" dist="12700" dir="16200000">
              <a:srgbClr val="D1D5DB">
                <a:alpha val="30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6537960" y="45720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Appendices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82880"/>
            <a:ext cx="1645920" cy="594360"/>
          </a:xfrm>
          <a:prstGeom prst="roundRect">
            <a:avLst>
              <a:gd name="adj" fmla="val 15385"/>
            </a:avLst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8288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CH-1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286000" y="13716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Entrepreneurship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ClickNsit — Startup Project Report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280160"/>
            <a:ext cx="54864" cy="32004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2801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Entrepreneurship?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1737360"/>
            <a:ext cx="50292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6400800" y="1280160"/>
            <a:ext cx="54864" cy="32004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6537960" y="12801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Today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0" y="1737360"/>
            <a:ext cx="53035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548640" y="4389120"/>
            <a:ext cx="10972800" cy="1645920"/>
          </a:xfrm>
          <a:prstGeom prst="roundRect">
            <a:avLst>
              <a:gd name="adj" fmla="val 5556"/>
            </a:avLst>
          </a:prstGeom>
          <a:solidFill>
            <a:srgbClr val="1E293B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57200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Entrepreneurship = Identifying a Problem + Building a Scalable Solution + Creating Value
</a:t>
            </a:r>
            <a:pPr algn="ctr" indent="0" marL="0">
              <a:buNone/>
            </a:pPr>
            <a:r>
              <a:rPr lang="en-US" sz="12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ClickNsit is born from this exact philosophy — solving the form-filling problem for millions of Indian students through technology.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82880"/>
            <a:ext cx="1645920" cy="594360"/>
          </a:xfrm>
          <a:prstGeom prst="roundRect">
            <a:avLst>
              <a:gd name="adj" fmla="val 15385"/>
            </a:avLst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8288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CH-2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286000" y="13716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 of Startup Activity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ClickNsit — Startup Project Report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371600"/>
            <a:ext cx="3474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1D5DB">
                <a:alpha val="4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1520" y="1554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🎯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371600" y="155448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a Real Problem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31520" y="219456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form filling accessible from home without visiting physical cyber cafes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97680" y="1371600"/>
            <a:ext cx="3474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1D5DB">
                <a:alpha val="4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480560" y="1554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💰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5120640" y="155448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Revenue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480560" y="219456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fee model — earn from every form filled successfully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046720" y="1371600"/>
            <a:ext cx="3474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1D5DB">
                <a:alpha val="4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229600" y="1554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🚀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8869680" y="155448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Digitally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29600" y="219456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 1000+ students daily through web + Telegram bot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3749040"/>
            <a:ext cx="3474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1D5DB">
                <a:alpha val="4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31520" y="3931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👥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1371600" y="39319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Employment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31520" y="457200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 form-filling agents, customer support, and operations staff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297680" y="3749040"/>
            <a:ext cx="3474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1D5DB">
                <a:alpha val="4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480560" y="3931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🤝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5120640" y="39319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Trust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480560" y="457200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process — users track every step of their application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046720" y="3749040"/>
            <a:ext cx="3474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1D5DB">
                <a:alpha val="4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229600" y="3931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📱</a:t>
            </a:r>
            <a:endParaRPr lang="en-US" sz="2800" dirty="0"/>
          </a:p>
        </p:txBody>
      </p:sp>
      <p:sp>
        <p:nvSpPr>
          <p:cNvPr id="32" name="Text 30"/>
          <p:cNvSpPr/>
          <p:nvPr/>
        </p:nvSpPr>
        <p:spPr>
          <a:xfrm>
            <a:off x="8869680" y="39319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India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229600" y="457200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the gap between government portals and end users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82880"/>
            <a:ext cx="1645920" cy="594360"/>
          </a:xfrm>
          <a:prstGeom prst="roundRect">
            <a:avLst>
              <a:gd name="adj" fmla="val 15385"/>
            </a:avLst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8288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CH-3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286000" y="13716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the Startup Idea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ClickNsit — Startup Project Report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280160"/>
            <a:ext cx="10972800" cy="1463040"/>
          </a:xfrm>
          <a:prstGeom prst="roundRect">
            <a:avLst>
              <a:gd name="adj" fmla="val 6250"/>
            </a:avLst>
          </a:prstGeom>
          <a:solidFill>
            <a:srgbClr val="1E293B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137160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ClickNsit?
</a:t>
            </a:r>
            <a:pPr indent="0" marL="0">
              <a:buNone/>
            </a:pPr>
            <a:r>
              <a:rPr lang="en-US" sz="12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ClickNsit is an Online Cyber Cafe platform where users can get their forms filled on official government and private portals without visiting a physical cyber cafe. Users simply fill basic details, upload documents, and pay — our team handles the rest.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48640" y="3017520"/>
            <a:ext cx="54864" cy="32004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30175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— User Side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338328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6400800" y="3017520"/>
            <a:ext cx="54864" cy="32004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6" name="Text 14"/>
          <p:cNvSpPr/>
          <p:nvPr/>
        </p:nvSpPr>
        <p:spPr>
          <a:xfrm>
            <a:off x="6537960" y="30175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— Admin Side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0" y="3383280"/>
            <a:ext cx="53035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82880"/>
            <a:ext cx="1645920" cy="594360"/>
          </a:xfrm>
          <a:prstGeom prst="roundRect">
            <a:avLst>
              <a:gd name="adj" fmla="val 15385"/>
            </a:avLst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8288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CH-3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286000" y="13716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the Startup Idea — Key Features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ClickNsit — Startup Project Report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280160"/>
            <a:ext cx="3474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1D5DB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85800" y="13716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3-Step Form Filling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182880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info → Documents → Pay. No lengthy forms.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297680" y="1280160"/>
            <a:ext cx="3474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1D5DB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34840" y="13716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Real-Time Notifications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434840" y="182880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updates via dashboard + Telegram bot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46720" y="1280160"/>
            <a:ext cx="3474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1D5DB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183880" y="13716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Telegram Bot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183880" y="182880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functionality via Telegram — apply, track, pay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2971800"/>
            <a:ext cx="3474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1D5DB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85800" y="30632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📤  Multi-File Upload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85800" y="352044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uploads filled form, receipt, acknowledgement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97680" y="2971800"/>
            <a:ext cx="3474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1D5DB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434840" y="30632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Portal Auto-Detect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434840" y="352044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60+ official portals auto-mapped by category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046720" y="2971800"/>
            <a:ext cx="3474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1D5DB">
                <a:alpha val="3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183880" y="30632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💳  Secure Payments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183880" y="352044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Razorpay integration with coupon support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4663440"/>
            <a:ext cx="3474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1D5DB">
                <a:alpha val="3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85800" y="47548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Admin Dashboard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85800" y="521208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queue, analytics, revenue reports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297680" y="4663440"/>
            <a:ext cx="3474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1D5DB">
                <a:alpha val="3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434840" y="47548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WhatsApp Support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434840" y="521208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Floating button for instant customer support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046720" y="4663440"/>
            <a:ext cx="3474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1D5DB">
                <a:alpha val="3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8183880" y="47548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🌙  Dark Mode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8183880" y="521208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UI with dark/light theme toggle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82880"/>
            <a:ext cx="1645920" cy="594360"/>
          </a:xfrm>
          <a:prstGeom prst="roundRect">
            <a:avLst>
              <a:gd name="adj" fmla="val 15385"/>
            </a:avLst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8288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CH-3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286000" y="13716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the Startup Idea — Technology Stack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ClickNsit — Startup Project Report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280160"/>
            <a:ext cx="54864" cy="32004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2801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1691640"/>
            <a:ext cx="32004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4114800" y="1280160"/>
            <a:ext cx="54864" cy="32004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251960" y="12801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114800" y="1691640"/>
            <a:ext cx="32004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7772400" y="1280160"/>
            <a:ext cx="54864" cy="32004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7" name="Text 15"/>
          <p:cNvSpPr/>
          <p:nvPr/>
        </p:nvSpPr>
        <p:spPr>
          <a:xfrm>
            <a:off x="7909560" y="12801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772400" y="1691640"/>
            <a:ext cx="3840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548640" y="3840480"/>
            <a:ext cx="10972800" cy="228600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39319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Models (13 tables)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914400" y="4480560"/>
            <a:ext cx="1920240" cy="365760"/>
          </a:xfrm>
          <a:prstGeom prst="roundRect">
            <a:avLst>
              <a:gd name="adj" fmla="val 12500"/>
            </a:avLst>
          </a:prstGeom>
          <a:solidFill>
            <a:srgbClr val="1E293B"/>
          </a:solidFill>
          <a:ln w="6350">
            <a:solidFill>
              <a:srgbClr val="F9731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44805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017520" y="4480560"/>
            <a:ext cx="1920240" cy="365760"/>
          </a:xfrm>
          <a:prstGeom prst="roundRect">
            <a:avLst>
              <a:gd name="adj" fmla="val 12500"/>
            </a:avLst>
          </a:prstGeom>
          <a:solidFill>
            <a:srgbClr val="1E293B"/>
          </a:solidFill>
          <a:ln w="6350">
            <a:solidFill>
              <a:srgbClr val="F9731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017520" y="44805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120640" y="4480560"/>
            <a:ext cx="1920240" cy="365760"/>
          </a:xfrm>
          <a:prstGeom prst="roundRect">
            <a:avLst>
              <a:gd name="adj" fmla="val 12500"/>
            </a:avLst>
          </a:prstGeom>
          <a:solidFill>
            <a:srgbClr val="1E293B"/>
          </a:solidFill>
          <a:ln w="6350">
            <a:solidFill>
              <a:srgbClr val="F9731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0" y="44805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Application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223760" y="4480560"/>
            <a:ext cx="1920240" cy="365760"/>
          </a:xfrm>
          <a:prstGeom prst="roundRect">
            <a:avLst>
              <a:gd name="adj" fmla="val 12500"/>
            </a:avLst>
          </a:prstGeom>
          <a:solidFill>
            <a:srgbClr val="1E293B"/>
          </a:solidFill>
          <a:ln w="6350">
            <a:solidFill>
              <a:srgbClr val="F9731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23760" y="44805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Document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326880" y="4480560"/>
            <a:ext cx="1920240" cy="365760"/>
          </a:xfrm>
          <a:prstGeom prst="roundRect">
            <a:avLst>
              <a:gd name="adj" fmla="val 12500"/>
            </a:avLst>
          </a:prstGeom>
          <a:solidFill>
            <a:srgbClr val="1E293B"/>
          </a:solidFill>
          <a:ln w="6350">
            <a:solidFill>
              <a:srgbClr val="F9731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326880" y="44805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Payment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914400" y="4983480"/>
            <a:ext cx="1920240" cy="365760"/>
          </a:xfrm>
          <a:prstGeom prst="roundRect">
            <a:avLst>
              <a:gd name="adj" fmla="val 12500"/>
            </a:avLst>
          </a:prstGeom>
          <a:solidFill>
            <a:srgbClr val="1E293B"/>
          </a:solidFill>
          <a:ln w="6350">
            <a:solidFill>
              <a:srgbClr val="F9731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49834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Staff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017520" y="4983480"/>
            <a:ext cx="1920240" cy="365760"/>
          </a:xfrm>
          <a:prstGeom prst="roundRect">
            <a:avLst>
              <a:gd name="adj" fmla="val 12500"/>
            </a:avLst>
          </a:prstGeom>
          <a:solidFill>
            <a:srgbClr val="1E293B"/>
          </a:solidFill>
          <a:ln w="6350">
            <a:solidFill>
              <a:srgbClr val="F9731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17520" y="49834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120640" y="4983480"/>
            <a:ext cx="1920240" cy="365760"/>
          </a:xfrm>
          <a:prstGeom prst="roundRect">
            <a:avLst>
              <a:gd name="adj" fmla="val 12500"/>
            </a:avLst>
          </a:prstGeom>
          <a:solidFill>
            <a:srgbClr val="1E293B"/>
          </a:solidFill>
          <a:ln w="6350">
            <a:solidFill>
              <a:srgbClr val="F9731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120640" y="49834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Coupon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7223760" y="4983480"/>
            <a:ext cx="1920240" cy="365760"/>
          </a:xfrm>
          <a:prstGeom prst="roundRect">
            <a:avLst>
              <a:gd name="adj" fmla="val 12500"/>
            </a:avLst>
          </a:prstGeom>
          <a:solidFill>
            <a:srgbClr val="1E293B"/>
          </a:solidFill>
          <a:ln w="6350">
            <a:solidFill>
              <a:srgbClr val="F9731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23760" y="49834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StatusHistory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9326880" y="4983480"/>
            <a:ext cx="1920240" cy="365760"/>
          </a:xfrm>
          <a:prstGeom prst="roundRect">
            <a:avLst>
              <a:gd name="adj" fmla="val 12500"/>
            </a:avLst>
          </a:prstGeom>
          <a:solidFill>
            <a:srgbClr val="1E293B"/>
          </a:solidFill>
          <a:ln w="6350">
            <a:solidFill>
              <a:srgbClr val="F9731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326880" y="49834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914400" y="5486400"/>
            <a:ext cx="1920240" cy="365760"/>
          </a:xfrm>
          <a:prstGeom prst="roundRect">
            <a:avLst>
              <a:gd name="adj" fmla="val 12500"/>
            </a:avLst>
          </a:prstGeom>
          <a:solidFill>
            <a:srgbClr val="1E293B"/>
          </a:solidFill>
          <a:ln w="6350">
            <a:solidFill>
              <a:srgbClr val="F9731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14400" y="54864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Referral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017520" y="5486400"/>
            <a:ext cx="1920240" cy="365760"/>
          </a:xfrm>
          <a:prstGeom prst="roundRect">
            <a:avLst>
              <a:gd name="adj" fmla="val 12500"/>
            </a:avLst>
          </a:prstGeom>
          <a:solidFill>
            <a:srgbClr val="1E293B"/>
          </a:solidFill>
          <a:ln w="6350">
            <a:solidFill>
              <a:srgbClr val="F9731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17520" y="54864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Commission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120640" y="5486400"/>
            <a:ext cx="1920240" cy="365760"/>
          </a:xfrm>
          <a:prstGeom prst="roundRect">
            <a:avLst>
              <a:gd name="adj" fmla="val 12500"/>
            </a:avLst>
          </a:prstGeom>
          <a:solidFill>
            <a:srgbClr val="1E293B"/>
          </a:solidFill>
          <a:ln w="6350">
            <a:solidFill>
              <a:srgbClr val="F9731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120640" y="54864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FormRequest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82880"/>
            <a:ext cx="1645920" cy="594360"/>
          </a:xfrm>
          <a:prstGeom prst="roundRect">
            <a:avLst>
              <a:gd name="adj" fmla="val 15385"/>
            </a:avLst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8288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CH-4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286000" y="13716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Research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ClickNsit — Startup Project Report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280160"/>
            <a:ext cx="265176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1D5DB">
                <a:alpha val="4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1280160"/>
            <a:ext cx="2651760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46304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₹5,000 Cr+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548640" y="219456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Form Filling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 India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429000" y="1280160"/>
            <a:ext cx="265176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1D5DB">
                <a:alpha val="4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429000" y="1280160"/>
            <a:ext cx="265176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6" name="Text 14"/>
          <p:cNvSpPr/>
          <p:nvPr/>
        </p:nvSpPr>
        <p:spPr>
          <a:xfrm>
            <a:off x="3429000" y="146304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Cr+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429000" y="219456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Appearing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Exams Yearly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09360" y="1280160"/>
            <a:ext cx="265176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1D5DB">
                <a:alpha val="4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309360" y="1280160"/>
            <a:ext cx="265176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6309360" y="146304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Lakh+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6309360" y="219456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Cafes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India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189720" y="1280160"/>
            <a:ext cx="265176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1D5DB">
                <a:alpha val="4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189720" y="1280160"/>
            <a:ext cx="2651760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4" name="Text 22"/>
          <p:cNvSpPr/>
          <p:nvPr/>
        </p:nvSpPr>
        <p:spPr>
          <a:xfrm>
            <a:off x="9189720" y="146304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9189720" y="219456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Prefer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Services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8640" y="3200400"/>
            <a:ext cx="54864" cy="32004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32004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Segments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48640" y="3611880"/>
            <a:ext cx="53035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6400800" y="3200400"/>
            <a:ext cx="54864" cy="32004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0" name="Text 28"/>
          <p:cNvSpPr/>
          <p:nvPr/>
        </p:nvSpPr>
        <p:spPr>
          <a:xfrm>
            <a:off x="6537960" y="32004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Gap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400800" y="3611880"/>
            <a:ext cx="53035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82880"/>
            <a:ext cx="1645920" cy="594360"/>
          </a:xfrm>
          <a:prstGeom prst="roundRect">
            <a:avLst>
              <a:gd name="adj" fmla="val 15385"/>
            </a:avLst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8288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CH-4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286000" y="13716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Research — Competitor Analysis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ClickNsit — Startup Project Report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25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09728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743200"/>
                <a:gridCol w="2743200"/>
                <a:gridCol w="32004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Physical Cyber Cafe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DIY (Self-Fill)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ClickNsit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731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Convenience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</a:rPr>
                        <a:t>Visit in person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B981"/>
                          </a:solidFill>
                        </a:rPr>
                        <a:t>Self at home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</a:rPr>
                        <a:t>100% Online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Transparency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</a:rPr>
                        <a:t>No tracking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97316"/>
                          </a:solidFill>
                        </a:rPr>
                        <a:t>Manual tracking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</a:rPr>
                        <a:t>Real-time status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Cost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97316"/>
                          </a:solidFill>
                        </a:rPr>
                        <a:t>₹100-300 per form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B981"/>
                          </a:solidFill>
                        </a:rPr>
                        <a:t>Free (but risky)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</a:rPr>
                        <a:t>₹50-100 service fee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Portal Knowledge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97316"/>
                          </a:solidFill>
                        </a:rPr>
                        <a:t>Expert needed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</a:rPr>
                        <a:t>None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</a:rPr>
                        <a:t>Admin handles all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Document Mgmt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97316"/>
                          </a:solidFill>
                        </a:rPr>
                        <a:t>Physical copies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97316"/>
                          </a:solidFill>
                        </a:rPr>
                        <a:t>Manual upload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</a:rPr>
                        <a:t>Cloud + Download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Telegram Bot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</a:rPr>
                        <a:t>Not available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</a:rPr>
                        <a:t>Not available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</a:rPr>
                        <a:t>Full functionality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Scalability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</a:rPr>
                        <a:t>Limited to location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CA3AF"/>
                          </a:solidFill>
                        </a:rPr>
                        <a:t>N/A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</a:rPr>
                        <a:t>Pan-India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4572000" y="5303520"/>
            <a:ext cx="3017520" cy="548640"/>
          </a:xfrm>
          <a:prstGeom prst="roundRect">
            <a:avLst>
              <a:gd name="adj" fmla="val 16667"/>
            </a:avLst>
          </a:prstGeom>
          <a:solidFill>
            <a:srgbClr val="F97316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0" y="530352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WINNER: ClickNsit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82880"/>
            <a:ext cx="1645920" cy="594360"/>
          </a:xfrm>
          <a:prstGeom prst="roundRect">
            <a:avLst>
              <a:gd name="adj" fmla="val 15385"/>
            </a:avLst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8288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CH-5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286000" y="13716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ClickNsit — Startup Project Report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280160"/>
            <a:ext cx="54864" cy="32004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2801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Streams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1737360"/>
            <a:ext cx="68580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E5E7EB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1737360"/>
            <a:ext cx="73152" cy="9144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1783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Fee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77240" y="21488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₹50-200 per form filled (primary revenue)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943600" y="1920240"/>
            <a:ext cx="1188720" cy="548640"/>
          </a:xfrm>
          <a:prstGeom prst="roundRect">
            <a:avLst>
              <a:gd name="adj" fmla="val 13333"/>
            </a:avLst>
          </a:prstGeom>
          <a:solidFill>
            <a:srgbClr val="F97316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0" y="192024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48640" y="2788920"/>
            <a:ext cx="68580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E5E7EB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" y="2788920"/>
            <a:ext cx="73152" cy="9144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28346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Fee Collection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77240" y="32004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collected from user = Fee paid to portal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943600" y="2971800"/>
            <a:ext cx="1188720" cy="548640"/>
          </a:xfrm>
          <a:prstGeom prst="roundRect">
            <a:avLst>
              <a:gd name="adj" fmla="val 13333"/>
            </a:avLst>
          </a:prstGeom>
          <a:solidFill>
            <a:srgbClr val="2563EB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0" y="297180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3840480"/>
            <a:ext cx="68580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E5E7EB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48640" y="3840480"/>
            <a:ext cx="73152" cy="9144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38862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Services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77240" y="4251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processing, express form filling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943600" y="4023360"/>
            <a:ext cx="1188720" cy="548640"/>
          </a:xfrm>
          <a:prstGeom prst="roundRect">
            <a:avLst>
              <a:gd name="adj" fmla="val 13333"/>
            </a:avLst>
          </a:prstGeom>
          <a:solidFill>
            <a:srgbClr val="10B981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0" y="402336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548640" y="4892040"/>
            <a:ext cx="68580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E5E7EB">
                <a:alpha val="3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48640" y="4892040"/>
            <a:ext cx="73152" cy="9144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2" name="Text 30"/>
          <p:cNvSpPr/>
          <p:nvPr/>
        </p:nvSpPr>
        <p:spPr>
          <a:xfrm>
            <a:off x="777240" y="49377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Bonuses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77240" y="5303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₹25 per successful referral (user acquisition)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943600" y="5074920"/>
            <a:ext cx="1188720" cy="548640"/>
          </a:xfrm>
          <a:prstGeom prst="roundRect">
            <a:avLst>
              <a:gd name="adj" fmla="val 13333"/>
            </a:avLst>
          </a:prstGeom>
          <a:solidFill>
            <a:srgbClr val="7C3AED"/>
          </a:solidFill>
          <a:ln/>
        </p:spPr>
      </p:sp>
      <p:sp>
        <p:nvSpPr>
          <p:cNvPr id="35" name="Text 33"/>
          <p:cNvSpPr/>
          <p:nvPr/>
        </p:nvSpPr>
        <p:spPr>
          <a:xfrm>
            <a:off x="5943600" y="507492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7772400" y="1280160"/>
            <a:ext cx="54864" cy="32004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7" name="Text 35"/>
          <p:cNvSpPr/>
          <p:nvPr/>
        </p:nvSpPr>
        <p:spPr>
          <a:xfrm>
            <a:off x="7909560" y="12801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7772400" y="1737360"/>
            <a:ext cx="3840480" cy="4389120"/>
          </a:xfrm>
          <a:prstGeom prst="roundRect">
            <a:avLst>
              <a:gd name="adj" fmla="val 2381"/>
            </a:avLst>
          </a:prstGeom>
          <a:solidFill>
            <a:srgbClr val="1E293B"/>
          </a:solidFill>
          <a:ln/>
        </p:spPr>
      </p:sp>
      <p:sp>
        <p:nvSpPr>
          <p:cNvPr id="39" name="Text 37"/>
          <p:cNvSpPr/>
          <p:nvPr/>
        </p:nvSpPr>
        <p:spPr>
          <a:xfrm>
            <a:off x="8046720" y="19202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Service Fee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241280" y="192024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₹100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046720" y="2377440"/>
            <a:ext cx="3291840" cy="9144"/>
          </a:xfrm>
          <a:prstGeom prst="rect">
            <a:avLst/>
          </a:prstGeom>
          <a:solidFill>
            <a:srgbClr val="374151"/>
          </a:solidFill>
          <a:ln/>
        </p:spPr>
      </p:sp>
      <p:sp>
        <p:nvSpPr>
          <p:cNvPr id="42" name="Text 40"/>
          <p:cNvSpPr/>
          <p:nvPr/>
        </p:nvSpPr>
        <p:spPr>
          <a:xfrm>
            <a:off x="8046720" y="24688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Official Fee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0241280" y="246888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₹500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8046720" y="2926080"/>
            <a:ext cx="3291840" cy="9144"/>
          </a:xfrm>
          <a:prstGeom prst="rect">
            <a:avLst/>
          </a:prstGeom>
          <a:solidFill>
            <a:srgbClr val="374151"/>
          </a:solidFill>
          <a:ln/>
        </p:spPr>
      </p:sp>
      <p:sp>
        <p:nvSpPr>
          <p:cNvPr id="45" name="Text 43"/>
          <p:cNvSpPr/>
          <p:nvPr/>
        </p:nvSpPr>
        <p:spPr>
          <a:xfrm>
            <a:off x="8046720" y="30175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per Form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10241280" y="301752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₹600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8046720" y="3474720"/>
            <a:ext cx="3291840" cy="9144"/>
          </a:xfrm>
          <a:prstGeom prst="rect">
            <a:avLst/>
          </a:prstGeom>
          <a:solidFill>
            <a:srgbClr val="374151"/>
          </a:solidFill>
          <a:ln/>
        </p:spPr>
      </p:sp>
      <p:sp>
        <p:nvSpPr>
          <p:cNvPr id="48" name="Text 46"/>
          <p:cNvSpPr/>
          <p:nvPr/>
        </p:nvSpPr>
        <p:spPr>
          <a:xfrm>
            <a:off x="8046720" y="35661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Gateway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10241280" y="356616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-₹12 (2%)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8046720" y="4023360"/>
            <a:ext cx="3291840" cy="9144"/>
          </a:xfrm>
          <a:prstGeom prst="rect">
            <a:avLst/>
          </a:prstGeom>
          <a:solidFill>
            <a:srgbClr val="374151"/>
          </a:solidFill>
          <a:ln/>
        </p:spPr>
      </p:sp>
      <p:sp>
        <p:nvSpPr>
          <p:cNvPr id="51" name="Text 49"/>
          <p:cNvSpPr/>
          <p:nvPr/>
        </p:nvSpPr>
        <p:spPr>
          <a:xfrm>
            <a:off x="8046720" y="41148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Cost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10241280" y="411480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-₹5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8046720" y="4572000"/>
            <a:ext cx="3291840" cy="9144"/>
          </a:xfrm>
          <a:prstGeom prst="rect">
            <a:avLst/>
          </a:prstGeom>
          <a:solidFill>
            <a:srgbClr val="374151"/>
          </a:solidFill>
          <a:ln/>
        </p:spPr>
      </p:sp>
      <p:sp>
        <p:nvSpPr>
          <p:cNvPr id="54" name="Text 52"/>
          <p:cNvSpPr/>
          <p:nvPr/>
        </p:nvSpPr>
        <p:spPr>
          <a:xfrm>
            <a:off x="8046720" y="46634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Commission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10241280" y="466344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-₹30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8046720" y="5120640"/>
            <a:ext cx="3291840" cy="9144"/>
          </a:xfrm>
          <a:prstGeom prst="rect">
            <a:avLst/>
          </a:prstGeom>
          <a:solidFill>
            <a:srgbClr val="374151"/>
          </a:solidFill>
          <a:ln/>
        </p:spPr>
      </p:sp>
      <p:sp>
        <p:nvSpPr>
          <p:cNvPr id="57" name="Text 55"/>
          <p:cNvSpPr/>
          <p:nvPr/>
        </p:nvSpPr>
        <p:spPr>
          <a:xfrm>
            <a:off x="8046720" y="52120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Profit/Form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10241280" y="521208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₹53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82880"/>
            <a:ext cx="1645920" cy="594360"/>
          </a:xfrm>
          <a:prstGeom prst="roundRect">
            <a:avLst>
              <a:gd name="adj" fmla="val 15385"/>
            </a:avLst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8288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CH-5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286000" y="13716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 Canvas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ClickNsit — Startup Project Report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280160"/>
            <a:ext cx="2560320" cy="2377440"/>
          </a:xfrm>
          <a:prstGeom prst="roundRect">
            <a:avLst>
              <a:gd name="adj" fmla="val 3077"/>
            </a:avLst>
          </a:prstGeom>
          <a:solidFill>
            <a:srgbClr val="DBEAFE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325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Partners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1645920"/>
            <a:ext cx="23774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portals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Razorpay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91840" y="1280160"/>
            <a:ext cx="2560320" cy="2377440"/>
          </a:xfrm>
          <a:prstGeom prst="roundRect">
            <a:avLst>
              <a:gd name="adj" fmla="val 3077"/>
            </a:avLst>
          </a:prstGeom>
          <a:solidFill>
            <a:srgbClr val="D1FAE5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83280" y="1325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Activities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383280" y="1645920"/>
            <a:ext cx="23774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filling on portals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support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development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training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assurance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35040" y="1280160"/>
            <a:ext cx="2560320" cy="2377440"/>
          </a:xfrm>
          <a:prstGeom prst="roundRect">
            <a:avLst>
              <a:gd name="adj" fmla="val 3077"/>
            </a:avLst>
          </a:prstGeom>
          <a:solidFill>
            <a:srgbClr val="EDE9FE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26480" y="1325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Resources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126480" y="1645920"/>
            <a:ext cx="23774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platform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 bot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agents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knowledge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trust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778240" y="1280160"/>
            <a:ext cx="2834640" cy="2377440"/>
          </a:xfrm>
          <a:prstGeom prst="roundRect">
            <a:avLst>
              <a:gd name="adj" fmla="val 3077"/>
            </a:avLst>
          </a:prstGeom>
          <a:solidFill>
            <a:srgbClr val="FFF7ED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869680" y="132588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Proposition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869680" y="1645920"/>
            <a:ext cx="26517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forms from home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cyber cafe visit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tracking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process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handles all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3931920"/>
            <a:ext cx="2834640" cy="2194560"/>
          </a:xfrm>
          <a:prstGeom prst="roundRect">
            <a:avLst>
              <a:gd name="adj" fmla="val 3333"/>
            </a:avLst>
          </a:prstGeom>
          <a:solidFill>
            <a:srgbClr val="DBEAFE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9776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Relationships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4297680"/>
            <a:ext cx="26517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support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 bot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tracking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notifications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566160" y="3931920"/>
            <a:ext cx="2560320" cy="2194560"/>
          </a:xfrm>
          <a:prstGeom prst="roundRect">
            <a:avLst>
              <a:gd name="adj" fmla="val 3333"/>
            </a:avLst>
          </a:prstGeom>
          <a:solidFill>
            <a:srgbClr val="D1FAE5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0" y="39776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657600" y="4297680"/>
            <a:ext cx="23774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 bot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media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of mouth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309360" y="3931920"/>
            <a:ext cx="2560320" cy="2194560"/>
          </a:xfrm>
          <a:prstGeom prst="roundRect">
            <a:avLst>
              <a:gd name="adj" fmla="val 3333"/>
            </a:avLst>
          </a:prstGeom>
          <a:solidFill>
            <a:srgbClr val="EDE9FE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0" y="39776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Segments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00800" y="4297680"/>
            <a:ext cx="23774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aspirants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College students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Parents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professionals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9052560" y="3931920"/>
            <a:ext cx="2560320" cy="2194560"/>
          </a:xfrm>
          <a:prstGeom prst="roundRect">
            <a:avLst>
              <a:gd name="adj" fmla="val 3333"/>
            </a:avLst>
          </a:prstGeom>
          <a:solidFill>
            <a:srgbClr val="FEE2E2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0" y="39776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Structure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9144000" y="4297680"/>
            <a:ext cx="23774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hosting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gateway fees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commissions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82880"/>
            <a:ext cx="1645920" cy="594360"/>
          </a:xfrm>
          <a:prstGeom prst="roundRect">
            <a:avLst>
              <a:gd name="adj" fmla="val 15385"/>
            </a:avLst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8288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CH-6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286000" y="13716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Planning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ClickNsit — Startup Project Report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280160"/>
            <a:ext cx="54864" cy="32004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2801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Investment Required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502920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5544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Domain + Hosting (1 year)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B5563"/>
                          </a:solidFill>
                        </a:rPr>
                        <a:t>₹5,000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Supabase Database (free tier)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B5563"/>
                          </a:solidFill>
                        </a:rPr>
                        <a:t>₹0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Vercel Hosting (free tier)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B5563"/>
                          </a:solidFill>
                        </a:rPr>
                        <a:t>₹0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Razorpay Setup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B5563"/>
                          </a:solidFill>
                        </a:rPr>
                        <a:t>₹0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Telegram Bot (free)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B5563"/>
                          </a:solidFill>
                        </a:rPr>
                        <a:t>₹0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Marketing Budget (3 months)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B5563"/>
                          </a:solidFill>
                        </a:rPr>
                        <a:t>₹15,000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Legal (GST, Business Reg.)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B5563"/>
                          </a:solidFill>
                        </a:rPr>
                        <a:t>₹5,000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Working Capital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B5563"/>
                          </a:solidFill>
                        </a:rPr>
                        <a:t>₹10,000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</a:rPr>
                        <a:t>Total Initial Investment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97316"/>
                          </a:solidFill>
                        </a:rPr>
                        <a:t>₹35,000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6400800" y="1280160"/>
            <a:ext cx="54864" cy="32004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4" name="Text 11"/>
          <p:cNvSpPr/>
          <p:nvPr/>
        </p:nvSpPr>
        <p:spPr>
          <a:xfrm>
            <a:off x="6537960" y="12801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3-Year Revenue Projection</a:t>
            </a:r>
            <a:endParaRPr lang="en-US" sz="14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691640"/>
          <a:ext cx="53035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Metric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Year 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Year 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Year 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Users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3,000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15,000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Forms/Month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800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5,000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Revenue/Year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</a:rPr>
                        <a:t>₹1.2L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</a:rPr>
                        <a:t>₹12L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</a:rPr>
                        <a:t>₹4.5Cr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Profit/Year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97316"/>
                          </a:solidFill>
                        </a:rPr>
                        <a:t>₹60K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97316"/>
                          </a:solidFill>
                        </a:rPr>
                        <a:t>₹6L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97316"/>
                          </a:solidFill>
                        </a:rPr>
                        <a:t>₹2Cr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Shape 12"/>
          <p:cNvSpPr/>
          <p:nvPr/>
        </p:nvSpPr>
        <p:spPr>
          <a:xfrm>
            <a:off x="548640" y="5029200"/>
            <a:ext cx="10972800" cy="1097280"/>
          </a:xfrm>
          <a:prstGeom prst="roundRect">
            <a:avLst>
              <a:gd name="adj" fmla="val 8333"/>
            </a:avLst>
          </a:prstGeom>
          <a:solidFill>
            <a:srgbClr val="10B981"/>
          </a:solidFill>
          <a:ln/>
        </p:spPr>
      </p:sp>
      <p:sp>
        <p:nvSpPr>
          <p:cNvPr id="17" name="Text 13"/>
          <p:cNvSpPr/>
          <p:nvPr/>
        </p:nvSpPr>
        <p:spPr>
          <a:xfrm>
            <a:off x="914400" y="512064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Break-Even Point: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4 — Only ₹35,000 initial investment needed. With ₹100 profit per form, just 350 forms in 4 months to break even!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82880"/>
            <a:ext cx="1645920" cy="594360"/>
          </a:xfrm>
          <a:prstGeom prst="roundRect">
            <a:avLst>
              <a:gd name="adj" fmla="val 15385"/>
            </a:avLst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8288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CH-7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286000" y="13716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Strategy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ClickNsit — Startup Project Report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280160"/>
            <a:ext cx="54864" cy="32004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2801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Local Launch (Month 1-3)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1691640"/>
            <a:ext cx="53035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6400800" y="1280160"/>
            <a:ext cx="54864" cy="32004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6537960" y="12801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Regional Growth (Month 4-8)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0" y="1691640"/>
            <a:ext cx="53035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548640" y="4297680"/>
            <a:ext cx="54864" cy="32004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42976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3: Pan-India Scale (Month 9-12)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4709160"/>
            <a:ext cx="53035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6400800" y="4297680"/>
            <a:ext cx="54864" cy="32004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6537960" y="42976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Budget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0" y="4709160"/>
            <a:ext cx="5303520" cy="1463040"/>
          </a:xfrm>
          <a:prstGeom prst="roundRect">
            <a:avLst>
              <a:gd name="adj" fmla="val 6250"/>
            </a:avLst>
          </a:prstGeom>
          <a:solidFill>
            <a:srgbClr val="1E293B"/>
          </a:solidFill>
          <a:ln/>
        </p:spPr>
      </p:sp>
      <p:sp>
        <p:nvSpPr>
          <p:cNvPr id="22" name="Text 20"/>
          <p:cNvSpPr/>
          <p:nvPr/>
        </p:nvSpPr>
        <p:spPr>
          <a:xfrm>
            <a:off x="6675120" y="4800600"/>
            <a:ext cx="47548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82880"/>
            <a:ext cx="1645920" cy="594360"/>
          </a:xfrm>
          <a:prstGeom prst="roundRect">
            <a:avLst>
              <a:gd name="adj" fmla="val 15385"/>
            </a:avLst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8288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CH-7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286000" y="13716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Strategy — Digital Presence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ClickNsit — Startup Project Report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280160"/>
            <a:ext cx="347472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1D5DB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1280160"/>
            <a:ext cx="347472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46304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Website (SEO)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31520" y="210312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Optimized for 'online form filling India', 'cyber cafe online'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97680" y="1280160"/>
            <a:ext cx="347472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1D5DB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297680" y="1280160"/>
            <a:ext cx="3474720" cy="5486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16" name="Text 14"/>
          <p:cNvSpPr/>
          <p:nvPr/>
        </p:nvSpPr>
        <p:spPr>
          <a:xfrm>
            <a:off x="4480560" y="146304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📸  Instagram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480560" y="210312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Reels: form filling tutorials, deadline reminders, tips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046720" y="1280160"/>
            <a:ext cx="347472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1D5DB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046720" y="1280160"/>
            <a:ext cx="347472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0" y="146304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📺  YouTube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229600" y="210312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guides for SSC, Railway, Banking forms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3566160"/>
            <a:ext cx="347472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1D5DB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3566160"/>
            <a:ext cx="347472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374904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WhatsApp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31520" y="438912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API — order updates, deadline alerts, support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297680" y="3566160"/>
            <a:ext cx="347472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1D5DB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297680" y="3566160"/>
            <a:ext cx="3474720" cy="5486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4480560" y="374904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Telegram Bot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480560" y="438912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functionality — apply, track, pay via Telegram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046720" y="3566160"/>
            <a:ext cx="347472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1D5DB">
                <a:alpha val="3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046720" y="3566160"/>
            <a:ext cx="347472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0" y="374904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🐦  Twitter/X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229600" y="438912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News, deadline alerts, government portal updates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82880"/>
            <a:ext cx="1645920" cy="594360"/>
          </a:xfrm>
          <a:prstGeom prst="roundRect">
            <a:avLst>
              <a:gd name="adj" fmla="val 15385"/>
            </a:avLst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8288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CH-8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286000" y="13716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Plan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ClickNsit — Startup Project Report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65760" y="128016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2801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— Month 1-3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16916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C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2194560"/>
            <a:ext cx="2743200" cy="384048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1D5DB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02920" y="2331720"/>
            <a:ext cx="246888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3291840" y="128016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10B981"/>
          </a:solidFill>
          <a:ln/>
        </p:spPr>
      </p:sp>
      <p:sp>
        <p:nvSpPr>
          <p:cNvPr id="16" name="Text 14"/>
          <p:cNvSpPr/>
          <p:nvPr/>
        </p:nvSpPr>
        <p:spPr>
          <a:xfrm>
            <a:off x="3291840" y="12801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— Month 4-6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291840" y="16916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C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291840" y="2194560"/>
            <a:ext cx="2743200" cy="384048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1D5DB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429000" y="2331720"/>
            <a:ext cx="246888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6217920" y="128016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F97316"/>
          </a:solidFill>
          <a:ln/>
        </p:spPr>
      </p:sp>
      <p:sp>
        <p:nvSpPr>
          <p:cNvPr id="21" name="Text 19"/>
          <p:cNvSpPr/>
          <p:nvPr/>
        </p:nvSpPr>
        <p:spPr>
          <a:xfrm>
            <a:off x="6217920" y="12801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— Month 7-9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217920" y="16916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C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217920" y="2194560"/>
            <a:ext cx="2743200" cy="384048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1D5DB">
                <a:alpha val="3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355080" y="2331720"/>
            <a:ext cx="246888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9144000" y="128016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7C3AED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0" y="12801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— Month 10-12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144000" y="16916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C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144000" y="2194560"/>
            <a:ext cx="2743200" cy="384048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1D5DB">
                <a:alpha val="3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9281160" y="2331720"/>
            <a:ext cx="246888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82880"/>
            <a:ext cx="1645920" cy="594360"/>
          </a:xfrm>
          <a:prstGeom prst="roundRect">
            <a:avLst>
              <a:gd name="adj" fmla="val 15385"/>
            </a:avLst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8288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CH-8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286000" y="13716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Plan — Development Roadmap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ClickNsit — Startup Project Report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280160"/>
            <a:ext cx="54864" cy="32004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2801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Already Built (v1.0 — Live)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1691640"/>
            <a:ext cx="1097280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548640" y="4846320"/>
            <a:ext cx="54864" cy="32004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4846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Milestones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2578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82880"/>
            <a:ext cx="1645920" cy="594360"/>
          </a:xfrm>
          <a:prstGeom prst="roundRect">
            <a:avLst>
              <a:gd name="adj" fmla="val 15385"/>
            </a:avLst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8288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CH-9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286000" y="13716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Faced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ClickNsit — Startup Project Report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280160"/>
            <a:ext cx="539496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1D5DB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1280160"/>
            <a:ext cx="73152" cy="2286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716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Database Connection Limits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178308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Supabase free tier: 15 connections. Vercel serverless functions each open new connections → pool exhaustion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31520" y="246888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Implemented connection_limit=1 per function, keep-alive without DB queries, retry logic with exponential backoff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309360" y="1280160"/>
            <a:ext cx="539496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1D5DB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309360" y="1280160"/>
            <a:ext cx="73152" cy="2286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7" name="Text 15"/>
          <p:cNvSpPr/>
          <p:nvPr/>
        </p:nvSpPr>
        <p:spPr>
          <a:xfrm>
            <a:off x="6492240" y="13716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Vercel Cold Starts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92240" y="178308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Serverless functions take 3-10 seconds on cold start → Telegram bot responses delayed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92240" y="246888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Keep-alive cron ping every 5 min, typing indicator for instant feedback, parallel DB queries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539496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1D5DB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3749040"/>
            <a:ext cx="73152" cy="2286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8404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File Upload on Serverless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1520" y="425196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Vercel has no persistent filesystem — fs.writeFile() files disappear on each deployment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31520" y="49377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Switched to base64 storage in PostgreSQL — permanent, no file system dependency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309360" y="3749040"/>
            <a:ext cx="539496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1D5DB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309360" y="3749040"/>
            <a:ext cx="73152" cy="22860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7" name="Text 25"/>
          <p:cNvSpPr/>
          <p:nvPr/>
        </p:nvSpPr>
        <p:spPr>
          <a:xfrm>
            <a:off x="6492240" y="38404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Portal Changes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92240" y="425196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Government portals frequently change their UI/forms — breaking the copy-paste workflow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92240" y="49377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Dynamic portal link detection, manual override option, admin notification for portal updates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82880"/>
            <a:ext cx="1645920" cy="594360"/>
          </a:xfrm>
          <a:prstGeom prst="roundRect">
            <a:avLst>
              <a:gd name="adj" fmla="val 15385"/>
            </a:avLst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8288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CH-9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286000" y="13716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Faced — Additional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ClickNsit — Startup Project Report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280160"/>
            <a:ext cx="1097280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1D5DB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1280160"/>
            <a:ext cx="73152" cy="2286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13716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User Trust Building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77240" y="182880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Users hesitant to share personal details and pay online for a new platform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217920" y="182880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Transparent process, real-time tracking, refund policy, WhatsApp support, testimonials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3749040"/>
            <a:ext cx="1097280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1D5DB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3749040"/>
            <a:ext cx="73152" cy="2286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8404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Payment Security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77240" y="429768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Users worried about payment failures and refund issues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217920" y="429768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Razorpay PCI-DSS compliant, automatic refund on failure, status tracking, email receipts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4572000"/>
            <a:ext cx="10972800" cy="1554480"/>
          </a:xfrm>
          <a:prstGeom prst="roundRect">
            <a:avLst>
              <a:gd name="adj" fmla="val 5882"/>
            </a:avLst>
          </a:prstGeom>
          <a:solidFill>
            <a:srgbClr val="1E293B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46634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Key Lessons Learned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14400" y="507492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82880"/>
            <a:ext cx="1645920" cy="594360"/>
          </a:xfrm>
          <a:prstGeom prst="roundRect">
            <a:avLst>
              <a:gd name="adj" fmla="val 15385"/>
            </a:avLst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8288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CH-10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286000" y="13716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Outcomes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ClickNsit — Startup Project Report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280160"/>
            <a:ext cx="3566160" cy="475488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1D5DB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1280160"/>
            <a:ext cx="356616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41732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  Technical Skills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31520" y="2011680"/>
            <a:ext cx="32004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4389120" y="1280160"/>
            <a:ext cx="3566160" cy="475488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1D5DB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389120" y="1280160"/>
            <a:ext cx="3566160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0" y="141732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Business Skills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572000" y="2011680"/>
            <a:ext cx="32004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8229600" y="1280160"/>
            <a:ext cx="3566160" cy="475488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1D5DB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229600" y="1280160"/>
            <a:ext cx="356616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8412480" y="141732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 Soft Skills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412480" y="2011680"/>
            <a:ext cx="32004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82880"/>
            <a:ext cx="1645920" cy="594360"/>
          </a:xfrm>
          <a:prstGeom prst="roundRect">
            <a:avLst>
              <a:gd name="adj" fmla="val 15385"/>
            </a:avLst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8288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CH-10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286000" y="13716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Outcomes — Personal Growth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ClickNsit — Startup Project Report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280160"/>
            <a:ext cx="10972800" cy="1371600"/>
          </a:xfrm>
          <a:prstGeom prst="roundRect">
            <a:avLst>
              <a:gd name="adj" fmla="val 6667"/>
            </a:avLst>
          </a:prstGeom>
          <a:solidFill>
            <a:srgbClr val="1E293B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1371600"/>
            <a:ext cx="10241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"Building ClickNsit taught me that entrepreneurship is not about having a perfect idea — it's about solving a real problem, iterating fast, and never giving up."
</a:t>
            </a:r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Akshay, Founder of ClickNsit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2926080"/>
            <a:ext cx="54864" cy="32004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9260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Starting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3337560"/>
            <a:ext cx="50292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6400800" y="2926080"/>
            <a:ext cx="54864" cy="32004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6" name="Text 14"/>
          <p:cNvSpPr/>
          <p:nvPr/>
        </p:nvSpPr>
        <p:spPr>
          <a:xfrm>
            <a:off x="6537960" y="29260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Building ClickNsit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0" y="3337560"/>
            <a:ext cx="53035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548640" y="5486400"/>
            <a:ext cx="10972800" cy="731520"/>
          </a:xfrm>
          <a:prstGeom prst="roundRect">
            <a:avLst>
              <a:gd name="adj" fmla="val 10000"/>
            </a:avLst>
          </a:prstGeom>
          <a:solidFill>
            <a:srgbClr val="F9731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54864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90+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31520" y="58521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0C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Commits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926080" y="54864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2926080" y="58521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0C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Routes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120640" y="54864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120640" y="58521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0C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Models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315200" y="54864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25+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315200" y="58521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0C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Built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9509760" y="54864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509760" y="58521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0C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 Commands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4572000"/>
            <a:ext cx="4572000" cy="4572000"/>
          </a:xfrm>
          <a:prstGeom prst="ellipse">
            <a:avLst/>
          </a:prstGeom>
          <a:solidFill>
            <a:srgbClr val="1E29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029200" y="1188720"/>
            <a:ext cx="2103120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6" name="Shape 4"/>
          <p:cNvSpPr/>
          <p:nvPr/>
        </p:nvSpPr>
        <p:spPr>
          <a:xfrm>
            <a:off x="1371600" y="1554480"/>
            <a:ext cx="9418320" cy="438912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sp>
        <p:nvSpPr>
          <p:cNvPr id="7" name="Text 5"/>
          <p:cNvSpPr/>
          <p:nvPr/>
        </p:nvSpPr>
        <p:spPr>
          <a:xfrm>
            <a:off x="1828800" y="1737360"/>
            <a:ext cx="850392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ClickNsit — Startup Project Report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25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82880"/>
            <a:ext cx="1645920" cy="594360"/>
          </a:xfrm>
          <a:prstGeom prst="roundRect">
            <a:avLst>
              <a:gd name="adj" fmla="val 15385"/>
            </a:avLst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8288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286000" y="13716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ClickNsit — Startup Project Report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25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1520" y="1280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Government of India — Digital India Programme (digitalindia.gov.in)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1609344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SSC (Staff Selection Commission) — ssc.nic.in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31520" y="1938528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IBPS (Institute of Banking Personnel Selection) — ibpsonline.ibps.in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31520" y="2267712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Indian Railways — indianrailways.gov.in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2596896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National Testing Agency (NTA) — nta.ac.in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31520" y="29260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Razorpay Documentation — razorpay.com/docs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31520" y="3255264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Next.js Documentation — nextjs.org/docs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1520" y="3584448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Prisma Documentation — prisma.io/docs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31520" y="3913632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Supabase Documentation — supabase.com/docs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31520" y="4242816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Telegram Bot API — core.telegram.org/bots/api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31520" y="45720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Vercel Deployment Guide — vercel.com/docs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31520" y="4901184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Startup India — startupindia.gov.in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1520" y="5230368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 NASSCOM — India Startup Ecosystem Report 2025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31520" y="5559552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 Statista — Online Education Market in India 2025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31520" y="5888736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 RBI — Digital Payment Statistics 2025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ClickNsit — Startup Project Report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25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82880"/>
            <a:ext cx="1645920" cy="594360"/>
          </a:xfrm>
          <a:prstGeom prst="roundRect">
            <a:avLst>
              <a:gd name="adj" fmla="val 15385"/>
            </a:avLst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8288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286000" y="13716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Appendices — Website Screenshots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ClickNsit — Startup Project Report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280160"/>
            <a:ext cx="3474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1D5DB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1280160"/>
            <a:ext cx="347472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14173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Homepage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17830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clickandsit.vercel.app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85800" y="2103120"/>
            <a:ext cx="3200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section, How It Works, Cyber Cafe Explained, Featured Forms, Testimonials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297680" y="1280160"/>
            <a:ext cx="3474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1D5DB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297680" y="1280160"/>
            <a:ext cx="347472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7" name="Text 15"/>
          <p:cNvSpPr/>
          <p:nvPr/>
        </p:nvSpPr>
        <p:spPr>
          <a:xfrm>
            <a:off x="4434840" y="14173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Forms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434840" y="17830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clickandsit.vercel.app/exams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434840" y="2103120"/>
            <a:ext cx="3200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filter, search, exam cards with fees and deadlines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046720" y="1280160"/>
            <a:ext cx="3474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1D5DB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046720" y="1280160"/>
            <a:ext cx="347472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8183880" y="14173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3-Step Application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183880" y="17830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clickandsit.vercel.app/apply/[id]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183880" y="2103120"/>
            <a:ext cx="3200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Info → Documents → Review &amp; Pay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" y="3657600"/>
            <a:ext cx="3474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1D5DB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48640" y="3657600"/>
            <a:ext cx="347472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37947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Dashboard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85800" y="41605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clickandsit.vercel.app/dashboard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85800" y="4480560"/>
            <a:ext cx="3200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Applications, Payments, Referrals, Profile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97680" y="3657600"/>
            <a:ext cx="3474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1D5DB">
                <a:alpha val="3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297680" y="3657600"/>
            <a:ext cx="347472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2" name="Text 30"/>
          <p:cNvSpPr/>
          <p:nvPr/>
        </p:nvSpPr>
        <p:spPr>
          <a:xfrm>
            <a:off x="4434840" y="37947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434840" y="41605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clickandsit.vercel.app/admin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434840" y="4480560"/>
            <a:ext cx="3200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queue, stats cards, pending count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046720" y="3657600"/>
            <a:ext cx="3474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1D5DB">
                <a:alpha val="3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8046720" y="3657600"/>
            <a:ext cx="347472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7" name="Text 35"/>
          <p:cNvSpPr/>
          <p:nvPr/>
        </p:nvSpPr>
        <p:spPr>
          <a:xfrm>
            <a:off x="8183880" y="37947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 Bot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8183880" y="41605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@clicknsit_bot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8183880" y="4480560"/>
            <a:ext cx="3200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exams, apply, track, pay — all via Telegram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1" name="Text 39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ClickNsit — Startup Project Report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25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82880"/>
            <a:ext cx="1645920" cy="594360"/>
          </a:xfrm>
          <a:prstGeom prst="roundRect">
            <a:avLst>
              <a:gd name="adj" fmla="val 15385"/>
            </a:avLst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8288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286000" y="13716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Appendices — Database Schema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ClickNsit — Startup Project Report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25</a:t>
            </a:r>
            <a:endParaRPr lang="en-US" sz="9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09728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686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Model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Key Fields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97316"/>
                          </a:solidFill>
                        </a:rPr>
                        <a:t>User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415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id, name, email, password, mobile, dob, gender, referralCode, referredBy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97316"/>
                          </a:solidFill>
                        </a:rPr>
                        <a:t>Exam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415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id, title, category, description, officialFee, serviceFee, deadline, requiredDocs, portalUrl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97316"/>
                          </a:solidFill>
                        </a:rPr>
                        <a:t>Application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415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id, userId, examId, formData(JSON), status, assignedStaffId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97316"/>
                          </a:solidFill>
                        </a:rPr>
                        <a:t>Document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415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id, applicationId, fileName, fileUrl, fileType, customName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97316"/>
                          </a:solidFill>
                        </a:rPr>
                        <a:t>Payment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415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id, applicationId, amount, status, razorpayOrderId, razorpayPaymentId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97316"/>
                          </a:solidFill>
                        </a:rPr>
                        <a:t>Admin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415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id, name, email, password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97316"/>
                          </a:solidFill>
                        </a:rPr>
                        <a:t>Coupon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415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id, code, type(percentage/flat), value, maxUses, expiresAt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97316"/>
                          </a:solidFill>
                        </a:rPr>
                        <a:t>StatusHistory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415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id, applicationId, fromStatus, toStatus, changedBy, note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97316"/>
                          </a:solidFill>
                        </a:rPr>
                        <a:t>Note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415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id, applicationId, author, content, createdAt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97316"/>
                          </a:solidFill>
                        </a:rPr>
                        <a:t>Referral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415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id, referrerId, referredId, bonus, status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97316"/>
                          </a:solidFill>
                        </a:rPr>
                        <a:t>FormRequest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415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id, userId, formName, category, status, adminNotes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ClickNsit — Startup Project Report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25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4114800"/>
            <a:ext cx="3657600" cy="3657600"/>
          </a:xfrm>
          <a:prstGeom prst="ellipse">
            <a:avLst/>
          </a:prstGeom>
          <a:solidFill>
            <a:srgbClr val="1E293B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37160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You!</a:t>
            </a:r>
            <a:endParaRPr lang="en-US" sz="5400" dirty="0"/>
          </a:p>
        </p:txBody>
      </p:sp>
      <p:sp>
        <p:nvSpPr>
          <p:cNvPr id="5" name="Shape 3"/>
          <p:cNvSpPr/>
          <p:nvPr/>
        </p:nvSpPr>
        <p:spPr>
          <a:xfrm>
            <a:off x="5029200" y="2560320"/>
            <a:ext cx="2103120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274320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Click. Sit. Done.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371600" y="3657600"/>
            <a:ext cx="2286000" cy="1645920"/>
          </a:xfrm>
          <a:prstGeom prst="roundRect">
            <a:avLst>
              <a:gd name="adj" fmla="val 5556"/>
            </a:avLst>
          </a:prstGeom>
          <a:solidFill>
            <a:srgbClr val="1E293B"/>
          </a:solidFill>
          <a:ln w="6350">
            <a:solidFill>
              <a:srgbClr val="37415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37490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🌐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371600" y="42976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371600" y="46177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clickandsit.vercel.app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931920" y="3657600"/>
            <a:ext cx="2286000" cy="1645920"/>
          </a:xfrm>
          <a:prstGeom prst="roundRect">
            <a:avLst>
              <a:gd name="adj" fmla="val 5556"/>
            </a:avLst>
          </a:prstGeom>
          <a:solidFill>
            <a:srgbClr val="1E293B"/>
          </a:solidFill>
          <a:ln w="6350">
            <a:solidFill>
              <a:srgbClr val="37415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31920" y="37490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📧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931920" y="42976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931920" y="46177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support@clickandsit.in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92240" y="3657600"/>
            <a:ext cx="2286000" cy="1645920"/>
          </a:xfrm>
          <a:prstGeom prst="roundRect">
            <a:avLst>
              <a:gd name="adj" fmla="val 5556"/>
            </a:avLst>
          </a:prstGeom>
          <a:solidFill>
            <a:srgbClr val="1E293B"/>
          </a:solidFill>
          <a:ln w="6350">
            <a:solidFill>
              <a:srgbClr val="37415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37490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📱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492240" y="42976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92240" y="46177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+91 9650752995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052560" y="3657600"/>
            <a:ext cx="2286000" cy="1645920"/>
          </a:xfrm>
          <a:prstGeom prst="roundRect">
            <a:avLst>
              <a:gd name="adj" fmla="val 5556"/>
            </a:avLst>
          </a:prstGeom>
          <a:solidFill>
            <a:srgbClr val="1E293B"/>
          </a:solidFill>
          <a:ln w="6350">
            <a:solidFill>
              <a:srgbClr val="37415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052560" y="37490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💬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9052560" y="42976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052560" y="46177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@clicknsit_bot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ClickNsit — Startup Project Report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25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ClickNsit — Online Cyber Cafe Platform</dc:title>
  <dc:subject>Startup Project Report — ClickNsit</dc:subject>
  <dc:creator>ClickNsit</dc:creator>
  <cp:lastModifiedBy>ClickNsit</cp:lastModifiedBy>
  <cp:revision>1</cp:revision>
  <dcterms:created xsi:type="dcterms:W3CDTF">2026-09-04T10:11:33Z</dcterms:created>
  <dcterms:modified xsi:type="dcterms:W3CDTF">2026-09-04T10:11:33Z</dcterms:modified>
</cp:coreProperties>
</file>