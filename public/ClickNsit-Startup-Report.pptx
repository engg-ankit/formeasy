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1920240"/>
            <a:ext cx="1097280" cy="6400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21031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Cyber Cafe Platform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3474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Click. Sit. Done.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4114800"/>
            <a:ext cx="9144000" cy="27432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297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Project Report  |  www.clickandsit.vercel.app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46634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Akshay  |  August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 — Startup Report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 — Startup Report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14400" y="1188720"/>
            <a:ext cx="5029200" cy="548640"/>
          </a:xfrm>
          <a:prstGeom prst="roundRect">
            <a:avLst>
              <a:gd name="adj" fmla="val 8333"/>
            </a:avLst>
          </a:prstGeom>
          <a:solidFill>
            <a:srgbClr val="DBEAFE"/>
          </a:solidFill>
          <a:ln/>
          <a:effectLst>
            <a:outerShdw sx="100000" sy="100000" kx="0" ky="0" algn="bl" rotWithShape="0" blurRad="25400" dist="12700" dir="16200000">
              <a:srgbClr val="E5E7EB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51560" y="11887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11887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Entrepreneurship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1874520"/>
            <a:ext cx="50292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E5E7EB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51560" y="18745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18745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Startup Activity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2560320"/>
            <a:ext cx="5029200" cy="548640"/>
          </a:xfrm>
          <a:prstGeom prst="roundRect">
            <a:avLst>
              <a:gd name="adj" fmla="val 8333"/>
            </a:avLst>
          </a:prstGeom>
          <a:solidFill>
            <a:srgbClr val="DBEAFE"/>
          </a:solidFill>
          <a:ln/>
          <a:effectLst>
            <a:outerShdw sx="100000" sy="100000" kx="0" ky="0" algn="bl" rotWithShape="0" blurRad="25400" dist="12700" dir="16200000">
              <a:srgbClr val="E5E7EB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51560" y="2560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25603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Startup Idea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3246120"/>
            <a:ext cx="50292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E5E7EB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51560" y="32461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20240" y="32461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3931920"/>
            <a:ext cx="5029200" cy="548640"/>
          </a:xfrm>
          <a:prstGeom prst="roundRect">
            <a:avLst>
              <a:gd name="adj" fmla="val 8333"/>
            </a:avLst>
          </a:prstGeom>
          <a:solidFill>
            <a:srgbClr val="DBEAFE"/>
          </a:solidFill>
          <a:ln/>
          <a:effectLst>
            <a:outerShdw sx="100000" sy="100000" kx="0" ky="0" algn="bl" rotWithShape="0" blurRad="25400" dist="12700" dir="16200000">
              <a:srgbClr val="E5E7EB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51560" y="39319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20240" y="39319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4400" y="4617720"/>
            <a:ext cx="50292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E5E7EB">
                <a:alpha val="3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51560" y="46177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920240" y="46177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Planning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14400" y="5303520"/>
            <a:ext cx="5029200" cy="548640"/>
          </a:xfrm>
          <a:prstGeom prst="roundRect">
            <a:avLst>
              <a:gd name="adj" fmla="val 8333"/>
            </a:avLst>
          </a:prstGeom>
          <a:solidFill>
            <a:srgbClr val="DBEAFE"/>
          </a:solidFill>
          <a:ln/>
          <a:effectLst>
            <a:outerShdw sx="100000" sy="100000" kx="0" ky="0" algn="bl" rotWithShape="0" blurRad="25400" dist="12700" dir="16200000">
              <a:srgbClr val="E5E7EB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51560" y="53035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CH-7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920240" y="53035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Strategy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0" y="1188720"/>
            <a:ext cx="50292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E5E7EB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537960" y="11887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CH-8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06640" y="11887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Plan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0" y="1874520"/>
            <a:ext cx="5029200" cy="548640"/>
          </a:xfrm>
          <a:prstGeom prst="roundRect">
            <a:avLst>
              <a:gd name="adj" fmla="val 8333"/>
            </a:avLst>
          </a:prstGeom>
          <a:solidFill>
            <a:srgbClr val="DBEAFE"/>
          </a:solidFill>
          <a:ln/>
          <a:effectLst>
            <a:outerShdw sx="100000" sy="100000" kx="0" ky="0" algn="bl" rotWithShape="0" blurRad="25400" dist="12700" dir="16200000">
              <a:srgbClr val="E5E7EB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537960" y="18745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CH-9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406640" y="18745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0" y="2560320"/>
            <a:ext cx="50292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E5E7EB">
                <a:alpha val="3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537960" y="2560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CH-10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406640" y="25603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00800" y="3246120"/>
            <a:ext cx="5029200" cy="548640"/>
          </a:xfrm>
          <a:prstGeom prst="roundRect">
            <a:avLst>
              <a:gd name="adj" fmla="val 8333"/>
            </a:avLst>
          </a:prstGeom>
          <a:solidFill>
            <a:srgbClr val="DBEAFE"/>
          </a:solidFill>
          <a:ln/>
          <a:effectLst>
            <a:outerShdw sx="100000" sy="100000" kx="0" ky="0" algn="bl" rotWithShape="0" blurRad="25400" dist="12700" dir="16200000">
              <a:srgbClr val="E5E7EB">
                <a:alpha val="3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537960" y="32461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00800" y="3931920"/>
            <a:ext cx="50292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E5E7EB">
                <a:alpha val="3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537960" y="39319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400800" y="4617720"/>
            <a:ext cx="5029200" cy="548640"/>
          </a:xfrm>
          <a:prstGeom prst="roundRect">
            <a:avLst>
              <a:gd name="adj" fmla="val 8333"/>
            </a:avLst>
          </a:prstGeom>
          <a:solidFill>
            <a:srgbClr val="DBEAFE"/>
          </a:solidFill>
          <a:ln/>
          <a:effectLst>
            <a:outerShdw sx="100000" sy="100000" kx="0" ky="0" algn="bl" rotWithShape="0" blurRad="25400" dist="12700" dir="16200000">
              <a:srgbClr val="E5E7EB">
                <a:alpha val="3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537960" y="46177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Appendices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64592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03120" y="914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Entrepreneurship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 — Startup Report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Entrepreneurship </a:t>
            </a:r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process of designing, launching, and running a new business to solve a real problem in the market.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1920240"/>
            <a:ext cx="10972800" cy="640080"/>
          </a:xfrm>
          <a:prstGeom prst="roundRect">
            <a:avLst>
              <a:gd name="adj" fmla="val 8571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1920240"/>
            <a:ext cx="54864" cy="6400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1920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Identifying a market gap and building a scalable solution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697480"/>
            <a:ext cx="109728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697480"/>
            <a:ext cx="54864" cy="6400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6974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Risk-taking in exchange for innovation and profit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10972800" cy="640080"/>
          </a:xfrm>
          <a:prstGeom prst="roundRect">
            <a:avLst>
              <a:gd name="adj" fmla="val 8571"/>
            </a:avLst>
          </a:prstGeom>
          <a:solidFill>
            <a:srgbClr val="DBEAFE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474720"/>
            <a:ext cx="54864" cy="6400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4747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Key driver of economic growth and job creation in India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251960"/>
            <a:ext cx="109728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251960"/>
            <a:ext cx="54864" cy="6400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251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India's startup ecosystem grew 15x in last 5 years (DPIIT)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029200"/>
            <a:ext cx="10972800" cy="640080"/>
          </a:xfrm>
          <a:prstGeom prst="roundRect">
            <a:avLst>
              <a:gd name="adj" fmla="val 8571"/>
            </a:avLst>
          </a:prstGeom>
          <a:solidFill>
            <a:srgbClr val="DBEAFE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5029200"/>
            <a:ext cx="54864" cy="64008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029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Digital India initiative pushing online services adoption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286000" y="5669280"/>
            <a:ext cx="758952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/>
        </p:spPr>
      </p:sp>
      <p:sp>
        <p:nvSpPr>
          <p:cNvPr id="27" name="Text 25"/>
          <p:cNvSpPr/>
          <p:nvPr/>
        </p:nvSpPr>
        <p:spPr>
          <a:xfrm>
            <a:off x="2286000" y="566928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 is born from this philosophy — solving a real problem through technology.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64592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03120" y="914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Startup Activity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 — Startup Report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34747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E5E7EB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1325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188720" y="1325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a Real Problem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192024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filling accessible from home — no cyber cafe visit needed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1188720"/>
            <a:ext cx="34747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E5E7EB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434840" y="1325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937760" y="1325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Revenue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34840" y="192024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fee model — earn from every form filled successfully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46720" y="1188720"/>
            <a:ext cx="34747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E5E7EB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183880" y="13258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🚀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686800" y="13258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Digitally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83880" y="192024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1000+ students daily via web + Telegram bot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657600"/>
            <a:ext cx="34747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E5E7EB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5800" y="3794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188720" y="3794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Employment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43891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form-filling agents, support staff, and operations team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97680" y="3657600"/>
            <a:ext cx="34747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E5E7EB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434840" y="3794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🤝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4937760" y="3794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Trust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434840" y="43891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process — users track every step in real-time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46720" y="3657600"/>
            <a:ext cx="347472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E5E7EB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183880" y="3794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8686800" y="37947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India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183880" y="43891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the gap between government portals and end users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64592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03120" y="914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Startup Idea — ClickNsit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 — Startup Report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10972800" cy="1280160"/>
          </a:xfrm>
          <a:prstGeom prst="roundRect">
            <a:avLst>
              <a:gd name="adj" fmla="val 7143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23444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ClickNsit?
</a:t>
            </a:r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Online Cyber Cafe platform — users fill basic details + upload documents, our team submits the form on the official portal. Simple as visiting a cyber cafe, but 100% online.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54864" cy="274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43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Side (3 Steps)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1691640" cy="640080"/>
          </a:xfrm>
          <a:prstGeom prst="roundRect">
            <a:avLst>
              <a:gd name="adj" fmla="val 8571"/>
            </a:avLst>
          </a:prstGeom>
          <a:solidFill>
            <a:srgbClr val="DBEAF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0040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Basic Info (Name, Mobile, Email)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377440" y="3200400"/>
            <a:ext cx="1691640" cy="640080"/>
          </a:xfrm>
          <a:prstGeom prst="roundRect">
            <a:avLst>
              <a:gd name="adj" fmla="val 8571"/>
            </a:avLst>
          </a:prstGeom>
          <a:solidFill>
            <a:srgbClr val="DBEAFE"/>
          </a:solidFill>
          <a:ln/>
        </p:spPr>
      </p:sp>
      <p:sp>
        <p:nvSpPr>
          <p:cNvPr id="17" name="Text 15"/>
          <p:cNvSpPr/>
          <p:nvPr/>
        </p:nvSpPr>
        <p:spPr>
          <a:xfrm>
            <a:off x="2377440" y="320040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Upload Documents (Photo, ID)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206240" y="3200400"/>
            <a:ext cx="1691640" cy="640080"/>
          </a:xfrm>
          <a:prstGeom prst="roundRect">
            <a:avLst>
              <a:gd name="adj" fmla="val 8571"/>
            </a:avLst>
          </a:prstGeom>
          <a:solidFill>
            <a:srgbClr val="DBEAFE"/>
          </a:solidFill>
          <a:ln/>
        </p:spPr>
      </p:sp>
      <p:sp>
        <p:nvSpPr>
          <p:cNvPr id="19" name="Text 17"/>
          <p:cNvSpPr/>
          <p:nvPr/>
        </p:nvSpPr>
        <p:spPr>
          <a:xfrm>
            <a:off x="4206240" y="320040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Review &amp; Pay via Razorpay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0" y="32461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➡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00800" y="2743200"/>
            <a:ext cx="54864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2743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Side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0" y="3200400"/>
            <a:ext cx="1691640" cy="640080"/>
          </a:xfrm>
          <a:prstGeom prst="roundRect">
            <a:avLst>
              <a:gd name="adj" fmla="val 8571"/>
            </a:avLst>
          </a:prstGeom>
          <a:solidFill>
            <a:srgbClr val="D1FAE5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320040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Open Official Portal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229600" y="3200400"/>
            <a:ext cx="1691640" cy="640080"/>
          </a:xfrm>
          <a:prstGeom prst="roundRect">
            <a:avLst>
              <a:gd name="adj" fmla="val 8571"/>
            </a:avLst>
          </a:prstGeom>
          <a:solidFill>
            <a:srgbClr val="D1FAE5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320040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Fill Form + Pay Fee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058400" y="3200400"/>
            <a:ext cx="1691640" cy="640080"/>
          </a:xfrm>
          <a:prstGeom prst="roundRect">
            <a:avLst>
              <a:gd name="adj" fmla="val 8571"/>
            </a:avLst>
          </a:prstGeom>
          <a:solidFill>
            <a:srgbClr val="D1FAE5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0" y="3200400"/>
            <a:ext cx="1691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Upload Receipt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4206240"/>
            <a:ext cx="54864" cy="274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206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4663440"/>
            <a:ext cx="34747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E5E7EB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46634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3-Step Form Fill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297680" y="4663440"/>
            <a:ext cx="34747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E5E7EB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297680" y="46634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Telegram Bot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046720" y="4663440"/>
            <a:ext cx="34747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E5E7EB">
                <a:alpha val="2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046720" y="46634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60+ Portal Auto-Detect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5349240"/>
            <a:ext cx="34747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E5E7EB">
                <a:alpha val="2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48640" y="53492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Multi-File Upload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297680" y="5349240"/>
            <a:ext cx="34747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E5E7EB">
                <a:alpha val="2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297680" y="53492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Razorpay Payment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046720" y="5349240"/>
            <a:ext cx="34747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E5E7EB">
                <a:alpha val="2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046720" y="53492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WhatsApp Support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64592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03120" y="914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 — Startup Report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325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182880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16, React 19, TypeScript, Tailwind CSS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118872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/>
        </p:spPr>
      </p:sp>
      <p:sp>
        <p:nvSpPr>
          <p:cNvPr id="14" name="Text 12"/>
          <p:cNvSpPr/>
          <p:nvPr/>
        </p:nvSpPr>
        <p:spPr>
          <a:xfrm>
            <a:off x="4434840" y="1325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34840" y="182880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ORM, NextAuth.js, Supabase (PostgreSQL)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118872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EDE9FE"/>
          </a:solidFill>
          <a:ln/>
        </p:spPr>
      </p:sp>
      <p:sp>
        <p:nvSpPr>
          <p:cNvPr id="17" name="Text 15"/>
          <p:cNvSpPr/>
          <p:nvPr/>
        </p:nvSpPr>
        <p:spPr>
          <a:xfrm>
            <a:off x="8183880" y="132588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83880" y="182880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— secure checkout, coupons, refunds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886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5800" y="438912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 API — full functionality on Telegram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297680" y="374904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/>
        </p:spPr>
      </p:sp>
      <p:sp>
        <p:nvSpPr>
          <p:cNvPr id="23" name="Text 21"/>
          <p:cNvSpPr/>
          <p:nvPr/>
        </p:nvSpPr>
        <p:spPr>
          <a:xfrm>
            <a:off x="4434840" y="3886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434840" y="438912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(free tier) — auto-deploy on git push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046720" y="3749040"/>
            <a:ext cx="3474720" cy="2286000"/>
          </a:xfrm>
          <a:prstGeom prst="roundRect">
            <a:avLst>
              <a:gd name="adj" fmla="val 4000"/>
            </a:avLst>
          </a:prstGeom>
          <a:solidFill>
            <a:srgbClr val="D1FAE5"/>
          </a:solidFill>
          <a:ln/>
        </p:spPr>
      </p:sp>
      <p:sp>
        <p:nvSpPr>
          <p:cNvPr id="26" name="Text 24"/>
          <p:cNvSpPr/>
          <p:nvPr/>
        </p:nvSpPr>
        <p:spPr>
          <a:xfrm>
            <a:off x="8183880" y="3886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183880" y="438912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in PostgreSQL — Vercel-compatible file storage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64592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03120" y="914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 — Startup Report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E5E7EB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188720"/>
            <a:ext cx="265176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3258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₹5,000 Cr+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48640" y="2057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Market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29000" y="118872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E5E7EB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29000" y="1188720"/>
            <a:ext cx="265176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3429000" y="13258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Cr+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429000" y="2057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Yearly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09360" y="118872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E5E7EB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0" y="1188720"/>
            <a:ext cx="265176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13258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Lakh+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09360" y="2057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Cafes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89720" y="118872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E5E7EB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89720" y="1188720"/>
            <a:ext cx="265176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9189720" y="13258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189720" y="2057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Online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2926080"/>
            <a:ext cx="54864" cy="274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2926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Comparison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109728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2743200"/>
                <a:gridCol w="3200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Cyber Cafe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DIY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ClickNsit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Convenience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Visit in person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Self at home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100% Online 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Tracking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No tracking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Manual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Real-time 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Cost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₹100-300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Free (risky)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₹50-100 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Portal Knowledge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Expert needed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None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Admin handles 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Scale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</a:rPr>
                        <a:t>Local only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Pan-India ✅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64592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CH-5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03120" y="914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 — Startup Report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54864" cy="274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1645920"/>
            <a:ext cx="5943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E5E7EB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1645920"/>
            <a:ext cx="54864" cy="685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164592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Fee (60%)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16459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₹50-200 per form — primary income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468880"/>
            <a:ext cx="5943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E5E7EB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468880"/>
            <a:ext cx="54864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46888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Fee (30%)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0" y="246888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collected = Fee paid to portal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291840"/>
            <a:ext cx="5943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E5E7EB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291840"/>
            <a:ext cx="54864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29184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Services (5%)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0" y="32918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processing, express filling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114800"/>
            <a:ext cx="59436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E5E7EB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4114800"/>
            <a:ext cx="54864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11480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Referrals (5%)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657600" y="41148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 bonus per successful referral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58000" y="1188720"/>
            <a:ext cx="54864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7040880" y="1188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(per form)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858000" y="1645920"/>
            <a:ext cx="4754880" cy="3017520"/>
          </a:xfrm>
          <a:prstGeom prst="roundRect">
            <a:avLst>
              <a:gd name="adj" fmla="val 3030"/>
            </a:avLst>
          </a:prstGeom>
          <a:solidFill>
            <a:srgbClr val="1E293B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0" y="18288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Fee Collected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058400" y="1828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₹100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132320" y="2194560"/>
            <a:ext cx="4114800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34" name="Text 32"/>
          <p:cNvSpPr/>
          <p:nvPr/>
        </p:nvSpPr>
        <p:spPr>
          <a:xfrm>
            <a:off x="7132320" y="226771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Fee (pass-through)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058400" y="226771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₹500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132320" y="2633472"/>
            <a:ext cx="4114800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37" name="Text 35"/>
          <p:cNvSpPr/>
          <p:nvPr/>
        </p:nvSpPr>
        <p:spPr>
          <a:xfrm>
            <a:off x="7132320" y="270662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(2%)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058400" y="270662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-₹12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132320" y="3072384"/>
            <a:ext cx="4114800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40" name="Text 38"/>
          <p:cNvSpPr/>
          <p:nvPr/>
        </p:nvSpPr>
        <p:spPr>
          <a:xfrm>
            <a:off x="7132320" y="314553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+ Hosting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058400" y="314553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-₹5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132320" y="3511296"/>
            <a:ext cx="4114800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43" name="Text 41"/>
          <p:cNvSpPr/>
          <p:nvPr/>
        </p:nvSpPr>
        <p:spPr>
          <a:xfrm>
            <a:off x="7132320" y="358444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Commission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058400" y="35844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-₹30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7132320" y="3950208"/>
            <a:ext cx="4114800" cy="914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46" name="Text 44"/>
          <p:cNvSpPr/>
          <p:nvPr/>
        </p:nvSpPr>
        <p:spPr>
          <a:xfrm>
            <a:off x="7132320" y="4023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0058400" y="4023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₹53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64592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03120" y="914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Planning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 — Startup Report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54864" cy="2743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188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Investment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502920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5544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Domain + Hosting (1yr)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₹5,000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Supabase / Vercel (free tier)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₹0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Razorpay Setup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₹0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Marketing (3 months)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₹15,000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Legal (GST, Registration)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₹5,000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74151"/>
                          </a:solidFill>
                        </a:rPr>
                        <a:t>Working Capital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4B5563"/>
                          </a:solidFill>
                        </a:rPr>
                        <a:t>₹10,000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Total Investment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</a:rPr>
                        <a:t>₹35,000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6400800" y="1188720"/>
            <a:ext cx="54864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1"/>
          <p:cNvSpPr/>
          <p:nvPr/>
        </p:nvSpPr>
        <p:spPr>
          <a:xfrm>
            <a:off x="6583680" y="1188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Projection</a:t>
            </a:r>
            <a:endParaRPr lang="en-US" sz="12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554480"/>
          <a:ext cx="53035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1280160"/>
                <a:gridCol w="12801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Year 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Year 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Year 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Users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3,000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15,000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Forms/Month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5,000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Revenue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₹1.2L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₹12L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</a:rPr>
                        <a:t>₹4.5Cr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Profit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</a:rPr>
                        <a:t>₹60K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</a:rPr>
                        <a:t>₹6L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97316"/>
                          </a:solidFill>
                        </a:rPr>
                        <a:t>₹2Cr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548640" y="4754880"/>
            <a:ext cx="10972800" cy="1280160"/>
          </a:xfrm>
          <a:prstGeom prst="roundRect">
            <a:avLst>
              <a:gd name="adj" fmla="val 7143"/>
            </a:avLst>
          </a:prstGeom>
          <a:solidFill>
            <a:srgbClr val="10B981"/>
          </a:solidFill>
          <a:ln/>
        </p:spPr>
      </p:sp>
      <p:sp>
        <p:nvSpPr>
          <p:cNvPr id="17" name="Text 13"/>
          <p:cNvSpPr/>
          <p:nvPr/>
        </p:nvSpPr>
        <p:spPr>
          <a:xfrm>
            <a:off x="914400" y="484632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Break-Even: Month 4  |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₹100 profit per form, only 350 forms needed to recover ₹35,000 investment.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64592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03120" y="914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Strategy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 — Startup Report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3566160" cy="484632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E5E7EB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188720"/>
            <a:ext cx="35661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325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(Month 1-3)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1691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Launch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2286000"/>
            <a:ext cx="3291840" cy="731520"/>
          </a:xfrm>
          <a:prstGeom prst="roundRect">
            <a:avLst>
              <a:gd name="adj" fmla="val 6250"/>
            </a:avLst>
          </a:prstGeom>
          <a:solidFill>
            <a:srgbClr val="DBEAFE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2860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WhatsApp groups — exam communities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" y="3154680"/>
            <a:ext cx="3291840" cy="73152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1546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Instagram Reels — form filling tutorials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" y="4023360"/>
            <a:ext cx="3291840" cy="731520"/>
          </a:xfrm>
          <a:prstGeom prst="roundRect">
            <a:avLst>
              <a:gd name="adj" fmla="val 6250"/>
            </a:avLst>
          </a:prstGeom>
          <a:solidFill>
            <a:srgbClr val="DBEAFE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0233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Referral program — ₹25 per friend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4892040"/>
            <a:ext cx="3291840" cy="73152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8920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College campus visits + QR codes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89120" y="1188720"/>
            <a:ext cx="3566160" cy="484632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E5E7EB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89120" y="1188720"/>
            <a:ext cx="356616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4526280" y="1325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(Month 4-8)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26280" y="1691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Growth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26280" y="2286000"/>
            <a:ext cx="3291840" cy="731520"/>
          </a:xfrm>
          <a:prstGeom prst="roundRect">
            <a:avLst>
              <a:gd name="adj" fmla="val 6250"/>
            </a:avLst>
          </a:prstGeom>
          <a:solidFill>
            <a:srgbClr val="DBEAFE"/>
          </a:solidFill>
          <a:ln/>
        </p:spPr>
      </p:sp>
      <p:sp>
        <p:nvSpPr>
          <p:cNvPr id="27" name="Text 25"/>
          <p:cNvSpPr/>
          <p:nvPr/>
        </p:nvSpPr>
        <p:spPr>
          <a:xfrm>
            <a:off x="4617720" y="22860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SEO — rank for 'online form filling'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26280" y="3154680"/>
            <a:ext cx="3291840" cy="73152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4617720" y="31546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Google Ads — ₹50/day on exam keywords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26280" y="4023360"/>
            <a:ext cx="3291840" cy="731520"/>
          </a:xfrm>
          <a:prstGeom prst="roundRect">
            <a:avLst>
              <a:gd name="adj" fmla="val 6250"/>
            </a:avLst>
          </a:prstGeom>
          <a:solidFill>
            <a:srgbClr val="DBEAFE"/>
          </a:solidFill>
          <a:ln/>
        </p:spPr>
      </p:sp>
      <p:sp>
        <p:nvSpPr>
          <p:cNvPr id="31" name="Text 29"/>
          <p:cNvSpPr/>
          <p:nvPr/>
        </p:nvSpPr>
        <p:spPr>
          <a:xfrm>
            <a:off x="4617720" y="40233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Telegram channel — tips + reminders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26280" y="4892040"/>
            <a:ext cx="3291840" cy="73152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/>
        </p:spPr>
      </p:sp>
      <p:sp>
        <p:nvSpPr>
          <p:cNvPr id="33" name="Text 31"/>
          <p:cNvSpPr/>
          <p:nvPr/>
        </p:nvSpPr>
        <p:spPr>
          <a:xfrm>
            <a:off x="4617720" y="48920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Coaching institute partnerships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229600" y="1188720"/>
            <a:ext cx="3566160" cy="484632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E5E7EB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229600" y="1188720"/>
            <a:ext cx="35661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8366760" y="1325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(Month 9-12)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366760" y="1691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Pan-India Scale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366760" y="2286000"/>
            <a:ext cx="3291840" cy="731520"/>
          </a:xfrm>
          <a:prstGeom prst="roundRect">
            <a:avLst>
              <a:gd name="adj" fmla="val 6250"/>
            </a:avLst>
          </a:prstGeom>
          <a:solidFill>
            <a:srgbClr val="DBEAFE"/>
          </a:solidFill>
          <a:ln/>
        </p:spPr>
      </p:sp>
      <p:sp>
        <p:nvSpPr>
          <p:cNvPr id="39" name="Text 37"/>
          <p:cNvSpPr/>
          <p:nvPr/>
        </p:nvSpPr>
        <p:spPr>
          <a:xfrm>
            <a:off x="8458200" y="22860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Influencer — education YouTubers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366760" y="3154680"/>
            <a:ext cx="3291840" cy="73152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/>
        </p:spPr>
      </p:sp>
      <p:sp>
        <p:nvSpPr>
          <p:cNvPr id="41" name="Text 39"/>
          <p:cNvSpPr/>
          <p:nvPr/>
        </p:nvSpPr>
        <p:spPr>
          <a:xfrm>
            <a:off x="8458200" y="31546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Agent network — cyber cafe owners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366760" y="4023360"/>
            <a:ext cx="3291840" cy="731520"/>
          </a:xfrm>
          <a:prstGeom prst="roundRect">
            <a:avLst>
              <a:gd name="adj" fmla="val 6250"/>
            </a:avLst>
          </a:prstGeom>
          <a:solidFill>
            <a:srgbClr val="DBEAFE"/>
          </a:solidFill>
          <a:ln/>
        </p:spPr>
      </p:sp>
      <p:sp>
        <p:nvSpPr>
          <p:cNvPr id="43" name="Text 41"/>
          <p:cNvSpPr/>
          <p:nvPr/>
        </p:nvSpPr>
        <p:spPr>
          <a:xfrm>
            <a:off x="8458200" y="40233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TV/Radio — Tier-2/3 city ads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366760" y="4892040"/>
            <a:ext cx="3291840" cy="73152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/>
        </p:spPr>
      </p:sp>
      <p:sp>
        <p:nvSpPr>
          <p:cNvPr id="45" name="Text 43"/>
          <p:cNvSpPr/>
          <p:nvPr/>
        </p:nvSpPr>
        <p:spPr>
          <a:xfrm>
            <a:off x="8458200" y="48920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Government digital literacy programs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64592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CH-8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03120" y="914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Plan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 — Startup Report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18872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(Month 1-3)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011680"/>
            <a:ext cx="2743200" cy="34747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E5E7EB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194560"/>
            <a:ext cx="2560320" cy="640080"/>
          </a:xfrm>
          <a:prstGeom prst="roundRect">
            <a:avLst>
              <a:gd name="adj" fmla="val 7143"/>
            </a:avLst>
          </a:prstGeom>
          <a:solidFill>
            <a:srgbClr val="DBEAFE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1945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MVP Launch — website + admin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2560320" cy="64008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9718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Razorpay + Telegram bot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2560320" cy="640080"/>
          </a:xfrm>
          <a:prstGeom prst="roundRect">
            <a:avLst>
              <a:gd name="adj" fmla="val 7143"/>
            </a:avLst>
          </a:prstGeom>
          <a:solidFill>
            <a:srgbClr val="DBEAFE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749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10 test forms live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526280"/>
            <a:ext cx="2560320" cy="64008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5262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First 50 users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91840" y="118872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(Month 4-6)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9184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2011680"/>
            <a:ext cx="2743200" cy="34747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E5E7EB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83280" y="2194560"/>
            <a:ext cx="2560320" cy="640080"/>
          </a:xfrm>
          <a:prstGeom prst="roundRect">
            <a:avLst>
              <a:gd name="adj" fmla="val 7143"/>
            </a:avLst>
          </a:prstGeom>
          <a:solidFill>
            <a:srgbClr val="DBEAFE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0" y="21945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Multi-file upload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83280" y="2971800"/>
            <a:ext cx="2560320" cy="64008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3474720" y="29718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60+ portal auto-detect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83280" y="3749040"/>
            <a:ext cx="2560320" cy="640080"/>
          </a:xfrm>
          <a:prstGeom prst="roundRect">
            <a:avLst>
              <a:gd name="adj" fmla="val 7143"/>
            </a:avLst>
          </a:prstGeom>
          <a:solidFill>
            <a:srgbClr val="DBEAFE"/>
          </a:solidFill>
          <a:ln/>
        </p:spPr>
      </p:sp>
      <p:sp>
        <p:nvSpPr>
          <p:cNvPr id="31" name="Text 29"/>
          <p:cNvSpPr/>
          <p:nvPr/>
        </p:nvSpPr>
        <p:spPr>
          <a:xfrm>
            <a:off x="3474720" y="3749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WhatsApp + chat support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83280" y="4526280"/>
            <a:ext cx="2560320" cy="64008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/>
        </p:spPr>
      </p:sp>
      <p:sp>
        <p:nvSpPr>
          <p:cNvPr id="33" name="Text 31"/>
          <p:cNvSpPr/>
          <p:nvPr/>
        </p:nvSpPr>
        <p:spPr>
          <a:xfrm>
            <a:off x="3474720" y="45262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500 users, 100 forms/mo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118872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F97316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(Month 7-9)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1792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17920" y="2011680"/>
            <a:ext cx="2743200" cy="34747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E5E7EB">
                <a:alpha val="3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309360" y="2194560"/>
            <a:ext cx="2560320" cy="640080"/>
          </a:xfrm>
          <a:prstGeom prst="roundRect">
            <a:avLst>
              <a:gd name="adj" fmla="val 7143"/>
            </a:avLst>
          </a:prstGeom>
          <a:solidFill>
            <a:srgbClr val="DBEAFE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0" y="21945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 PWA app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09360" y="2971800"/>
            <a:ext cx="2560320" cy="64008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0" y="29718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 network launch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309360" y="3749040"/>
            <a:ext cx="2560320" cy="640080"/>
          </a:xfrm>
          <a:prstGeom prst="roundRect">
            <a:avLst>
              <a:gd name="adj" fmla="val 7143"/>
            </a:avLst>
          </a:prstGeom>
          <a:solidFill>
            <a:srgbClr val="DBEAFE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0" y="3749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Premium services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09360" y="4526280"/>
            <a:ext cx="2560320" cy="64008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0" y="45262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3K users, 800 forms/mo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144000" y="1188720"/>
            <a:ext cx="2743200" cy="640080"/>
          </a:xfrm>
          <a:prstGeom prst="roundRect">
            <a:avLst>
              <a:gd name="adj" fmla="val 11429"/>
            </a:avLst>
          </a:prstGeom>
          <a:solidFill>
            <a:srgbClr val="7C3AED"/>
          </a:solidFill>
          <a:ln/>
        </p:spPr>
      </p:sp>
      <p:sp>
        <p:nvSpPr>
          <p:cNvPr id="47" name="Text 45"/>
          <p:cNvSpPr/>
          <p:nvPr/>
        </p:nvSpPr>
        <p:spPr>
          <a:xfrm>
            <a:off x="914400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(Month 10-12)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14400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9144000" y="2011680"/>
            <a:ext cx="2743200" cy="34747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E5E7EB">
                <a:alpha val="3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9235440" y="2194560"/>
            <a:ext cx="2560320" cy="640080"/>
          </a:xfrm>
          <a:prstGeom prst="roundRect">
            <a:avLst>
              <a:gd name="adj" fmla="val 7143"/>
            </a:avLst>
          </a:prstGeom>
          <a:solidFill>
            <a:srgbClr val="DBEAFE"/>
          </a:solidFill>
          <a:ln/>
        </p:spPr>
      </p:sp>
      <p:sp>
        <p:nvSpPr>
          <p:cNvPr id="51" name="Text 49"/>
          <p:cNvSpPr/>
          <p:nvPr/>
        </p:nvSpPr>
        <p:spPr>
          <a:xfrm>
            <a:off x="9326880" y="21945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Pan-India coverage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235440" y="2971800"/>
            <a:ext cx="2560320" cy="64008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/>
        </p:spPr>
      </p:sp>
      <p:sp>
        <p:nvSpPr>
          <p:cNvPr id="53" name="Text 51"/>
          <p:cNvSpPr/>
          <p:nvPr/>
        </p:nvSpPr>
        <p:spPr>
          <a:xfrm>
            <a:off x="9326880" y="29718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Government partnerships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9235440" y="3749040"/>
            <a:ext cx="2560320" cy="640080"/>
          </a:xfrm>
          <a:prstGeom prst="roundRect">
            <a:avLst>
              <a:gd name="adj" fmla="val 7143"/>
            </a:avLst>
          </a:prstGeom>
          <a:solidFill>
            <a:srgbClr val="DBEAFE"/>
          </a:solidFill>
          <a:ln/>
        </p:spPr>
      </p:sp>
      <p:sp>
        <p:nvSpPr>
          <p:cNvPr id="55" name="Text 53"/>
          <p:cNvSpPr/>
          <p:nvPr/>
        </p:nvSpPr>
        <p:spPr>
          <a:xfrm>
            <a:off x="9326880" y="37490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for cyber cafes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9235440" y="4526280"/>
            <a:ext cx="2560320" cy="64008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/>
        </p:spPr>
      </p:sp>
      <p:sp>
        <p:nvSpPr>
          <p:cNvPr id="57" name="Text 55"/>
          <p:cNvSpPr/>
          <p:nvPr/>
        </p:nvSpPr>
        <p:spPr>
          <a:xfrm>
            <a:off x="9326880" y="45262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15K users, 5K forms/mo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65760" y="5669280"/>
            <a:ext cx="11430000" cy="548640"/>
          </a:xfrm>
          <a:prstGeom prst="roundRect">
            <a:avLst>
              <a:gd name="adj" fmla="val 13333"/>
            </a:avLst>
          </a:prstGeom>
          <a:solidFill>
            <a:srgbClr val="1E293B"/>
          </a:solidFill>
          <a:ln/>
        </p:spPr>
      </p:sp>
      <p:sp>
        <p:nvSpPr>
          <p:cNvPr id="59" name="Text 57"/>
          <p:cNvSpPr/>
          <p:nvPr/>
        </p:nvSpPr>
        <p:spPr>
          <a:xfrm>
            <a:off x="548640" y="56692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Already Built &amp; Live — Website, Telegram Bot, Admin Panel, Payments, Multi-file Upload, 60+ Portal Auto-Detect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64592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CH-9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03120" y="914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 — Startup Report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E5E7EB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188720"/>
            <a:ext cx="64008" cy="22860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Database Connection Limits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17373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Supabase free tier: 15 connections. Vercel serverless exhausted the pool.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23774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connection_limit=1 per function, retry logic, keep-alive without DB.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309360" y="118872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E5E7EB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188720"/>
            <a:ext cx="64008" cy="22860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280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Vercel Cold Starts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17373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Serverless functions take 3-10 sec on cold start — bot responses delayed.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0" y="237744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Keep-alive cron ping, typing indicator, parallel DB queries.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E5E7EB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749040"/>
            <a:ext cx="64008" cy="22860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840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File Upload on Serverless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42976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Vercel has no persistent filesystem — files disappear on each deploy.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49377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Switched to base64 storage in PostgreSQL — permanent and reliable.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374904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E5E7EB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09360" y="3749040"/>
            <a:ext cx="64008" cy="2286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3840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User Trust Building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92240" y="42976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Users hesitant to share details and pay online for a new platform.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493776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Transparent tracking, refund policy, WhatsApp support, testimonials.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64592"/>
            <a:ext cx="1463040" cy="548640"/>
          </a:xfrm>
          <a:prstGeom prst="roundRect">
            <a:avLst>
              <a:gd name="adj" fmla="val 13333"/>
            </a:avLst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CH-10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03120" y="914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 — Startup Report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1188720"/>
            <a:ext cx="3566160" cy="47548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E5E7EB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188720"/>
            <a:ext cx="35661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371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Technical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2011680"/>
            <a:ext cx="3200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 (Next.js, React, TypeScript)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(Prisma, PostgreSQL)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integration (Razorpay)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development (Telegram API)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(Vercel, Supabase)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0" y="1188720"/>
            <a:ext cx="3566160" cy="47548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E5E7EB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89120" y="1188720"/>
            <a:ext cx="356616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1371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Business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0" y="2011680"/>
            <a:ext cx="3200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 &amp; validation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design (BMC)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planning &amp; projections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strategy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acquisition &amp; retention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0" y="1188720"/>
            <a:ext cx="3566160" cy="47548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E5E7EB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0" y="1188720"/>
            <a:ext cx="35661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0" y="13716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Personal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12480" y="2011680"/>
            <a:ext cx="3200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 under constraints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management &amp; prioritization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empathy &amp; design thinking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development (build → test)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as an entrepreneur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486400"/>
            <a:ext cx="10972800" cy="640080"/>
          </a:xfrm>
          <a:prstGeom prst="roundRect">
            <a:avLst>
              <a:gd name="adj" fmla="val 11429"/>
            </a:avLst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486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90+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5806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926080" y="5486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926080" y="5806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120640" y="5486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20640" y="5806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Models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315200" y="5486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15200" y="5806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9509760" y="54864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509760" y="5806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Commands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4572000"/>
            <a:ext cx="4572000" cy="457200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0" y="1097280"/>
            <a:ext cx="210312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1371600"/>
            <a:ext cx="9418320" cy="4572000"/>
          </a:xfrm>
          <a:prstGeom prst="roundRect">
            <a:avLst>
              <a:gd name="adj" fmla="val 3000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155448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ClickNsit solves a real problem — millions of students need form-filling help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828800" y="205740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Massive market (₹5,000 Cr+) growing with Digital India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0" y="256032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Technology-first approach — scalable and cost-effective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28800" y="30632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Revenue model proven — ₹53 net profit per form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28800" y="356616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Already built and live — working product, not just an idea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28800" y="406908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Break-even in 4 months with only ₹35,000 investment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828800" y="457200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Telegram bot provides omni-channel presence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28800" y="507492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Strong foundation for expansion — pan-India potential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 — Startup Report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12188952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446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ClickNsit — Startup Report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515600" y="6446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188720"/>
            <a:ext cx="10972800" cy="411480"/>
          </a:xfrm>
          <a:prstGeom prst="roundRect">
            <a:avLst>
              <a:gd name="adj" fmla="val 8889"/>
            </a:avLst>
          </a:prstGeom>
          <a:solidFill>
            <a:srgbClr val="DBEAF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1887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Government of India — Digital India Programme (digitalindia.gov.in)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1691640"/>
            <a:ext cx="109728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6916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SSC — ssc.nic.in  |  IBPS — ibpsonline.ibps.in  |  Railways — indianrailways.gov.in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194560"/>
            <a:ext cx="10972800" cy="411480"/>
          </a:xfrm>
          <a:prstGeom prst="roundRect">
            <a:avLst>
              <a:gd name="adj" fmla="val 8889"/>
            </a:avLst>
          </a:prstGeom>
          <a:solidFill>
            <a:srgbClr val="DBEAF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1945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National Testing Agency — nta.ac.in  |  Startup India — startupindia.gov.in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697480"/>
            <a:ext cx="109728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6974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Razorpay Docs — razorpay.com/docs  |  Next.js Docs — nextjs.org/docs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10972800" cy="411480"/>
          </a:xfrm>
          <a:prstGeom prst="roundRect">
            <a:avLst>
              <a:gd name="adj" fmla="val 8889"/>
            </a:avLst>
          </a:prstGeom>
          <a:solidFill>
            <a:srgbClr val="DBEAFE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20040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Prisma Docs — prisma.io/docs  |  Supabase Docs — supabase.com/docs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703320"/>
            <a:ext cx="109728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70332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Telegram Bot API — core.telegram.org/bots/api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10972800" cy="411480"/>
          </a:xfrm>
          <a:prstGeom prst="roundRect">
            <a:avLst>
              <a:gd name="adj" fmla="val 8889"/>
            </a:avLst>
          </a:prstGeom>
          <a:solidFill>
            <a:srgbClr val="DBEAFE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2062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NASSCOM — India Startup Ecosystem Report 2025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709160"/>
            <a:ext cx="10972800" cy="41148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7091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Statista — Online Education Market in India 2025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5212080"/>
            <a:ext cx="10972800" cy="411480"/>
          </a:xfrm>
          <a:prstGeom prst="roundRect">
            <a:avLst>
              <a:gd name="adj" fmla="val 8889"/>
            </a:avLst>
          </a:prstGeom>
          <a:solidFill>
            <a:srgbClr val="DBEAFE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52120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RBI — Digital Payment Statistics 2025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3657600" cy="365760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3716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5029200" y="2377440"/>
            <a:ext cx="2103120" cy="457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25603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Click. Sit. Done.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371600" y="3474720"/>
            <a:ext cx="228600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3566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71600" y="4114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71600" y="4389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clickandsit.vercel.app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931920" y="3474720"/>
            <a:ext cx="228600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3566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📧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931920" y="4114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931920" y="4389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support@clickandsit.in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92240" y="3474720"/>
            <a:ext cx="228600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3566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92240" y="4114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92240" y="4389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+91 9650752995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52560" y="3474720"/>
            <a:ext cx="2286000" cy="164592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6350">
            <a:solidFill>
              <a:srgbClr val="3741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0" y="356616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052560" y="4114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052560" y="4389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@clicknsit_bot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ClickNsit — Startup Project Report</dc:title>
  <dc:subject>PptxGenJS Presentation</dc:subject>
  <dc:creator>ClickNsit</dc:creator>
  <cp:lastModifiedBy>ClickNsit</cp:lastModifiedBy>
  <cp:revision>1</cp:revision>
  <dcterms:created xsi:type="dcterms:W3CDTF">2026-09-05T13:37:04Z</dcterms:created>
  <dcterms:modified xsi:type="dcterms:W3CDTF">2026-09-05T13:37:04Z</dcterms:modified>
</cp:coreProperties>
</file>